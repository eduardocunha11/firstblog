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media/image9.png" ContentType="image/png"/>
  <Override PartName="/ppt/media/image57.png" ContentType="image/png"/>
  <Override PartName="/ppt/media/image1.png" ContentType="image/png"/>
  <Override PartName="/ppt/media/image58.png" ContentType="image/png"/>
  <Override PartName="/ppt/media/image2.png" ContentType="image/png"/>
  <Override PartName="/ppt/media/image59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7.png" ContentType="image/png"/>
  <Override PartName="/ppt/media/image25.jpeg" ContentType="image/jpeg"/>
  <Override PartName="/ppt/media/image26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png" ContentType="image/png"/>
  <Override PartName="/ppt/media/image34.png" ContentType="image/png"/>
  <Override PartName="/ppt/media/image35.png" ContentType="image/png"/>
  <Override PartName="/ppt/media/image36.png" ContentType="image/png"/>
  <Override PartName="/ppt/media/image37.png" ContentType="image/png"/>
  <Override PartName="/ppt/media/image38.png" ContentType="image/png"/>
  <Override PartName="/ppt/media/image39.png" ContentType="image/png"/>
  <Override PartName="/ppt/media/image40.png" ContentType="image/png"/>
  <Override PartName="/ppt/media/image41.png" ContentType="image/png"/>
  <Override PartName="/ppt/media/image42.png" ContentType="image/png"/>
  <Override PartName="/ppt/media/image43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47.png" ContentType="image/png"/>
  <Override PartName="/ppt/media/image48.png" ContentType="image/png"/>
  <Override PartName="/ppt/media/image49.png" ContentType="image/png"/>
  <Override PartName="/ppt/media/image50.png" ContentType="image/png"/>
  <Override PartName="/ppt/media/image51.png" ContentType="image/png"/>
  <Override PartName="/ppt/media/image52.png" ContentType="image/png"/>
  <Override PartName="/ppt/media/image53.png" ContentType="image/png"/>
  <Override PartName="/ppt/media/image54.png" ContentType="image/png"/>
  <Override PartName="/ppt/media/image55.png" ContentType="image/png"/>
  <Override PartName="/ppt/media/image56.png" ContentType="image/png"/>
  <Override PartName="/ppt/media/image60.png" ContentType="image/png"/>
  <Override PartName="/ppt/media/image61.png" ContentType="image/png"/>
  <Override PartName="/ppt/media/image62.png" ContentType="image/png"/>
  <Override PartName="/ppt/slideLayouts/slideLayout9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_rels/presentation.xml.rels" ContentType="application/vnd.openxmlformats-package.relationships+xml"/>
  <Override PartName="/ppt/slides/slide26.xml" ContentType="application/vnd.openxmlformats-officedocument.presentationml.slide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_rels/slide9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0.xml.rels" ContentType="application/vnd.openxmlformats-package.relationships+xml"/>
  <Override PartName="/ppt/slides/_rels/slide21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25.xml.rels" ContentType="application/vnd.openxmlformats-package.relationships+xml"/>
  <Override PartName="/ppt/slides/_rels/slide26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4572000" cy="3429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0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261720" y="925200"/>
            <a:ext cx="3852360" cy="9118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216000" y="518400"/>
            <a:ext cx="4026240" cy="18486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26172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223596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261720" y="1399680"/>
            <a:ext cx="385236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261720" y="1399680"/>
            <a:ext cx="385236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223596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26172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40" name="" descr=""/>
          <p:cNvPicPr/>
          <p:nvPr/>
        </p:nvPicPr>
        <p:blipFill>
          <a:blip r:embed="rId2"/>
          <a:stretch/>
        </p:blipFill>
        <p:spPr>
          <a:xfrm>
            <a:off x="1670040" y="968040"/>
            <a:ext cx="1035000" cy="825840"/>
          </a:xfrm>
          <a:prstGeom prst="rect">
            <a:avLst/>
          </a:prstGeom>
          <a:ln>
            <a:noFill/>
          </a:ln>
        </p:spPr>
      </p:pic>
      <p:pic>
        <p:nvPicPr>
          <p:cNvPr id="41" name="" descr=""/>
          <p:cNvPicPr/>
          <p:nvPr/>
        </p:nvPicPr>
        <p:blipFill>
          <a:blip r:embed="rId3"/>
          <a:stretch/>
        </p:blipFill>
        <p:spPr>
          <a:xfrm>
            <a:off x="1670040" y="968040"/>
            <a:ext cx="1035000" cy="825840"/>
          </a:xfrm>
          <a:prstGeom prst="rect">
            <a:avLst/>
          </a:prstGeom>
          <a:ln>
            <a:noFill/>
          </a:ln>
        </p:spPr>
      </p:pic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261720" y="925200"/>
            <a:ext cx="3852360" cy="9118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216000" y="518400"/>
            <a:ext cx="4026240" cy="18486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26172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223596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body"/>
          </p:nvPr>
        </p:nvSpPr>
        <p:spPr>
          <a:xfrm>
            <a:off x="261720" y="1399680"/>
            <a:ext cx="385236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261720" y="1399680"/>
            <a:ext cx="385236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body"/>
          </p:nvPr>
        </p:nvSpPr>
        <p:spPr>
          <a:xfrm>
            <a:off x="223596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body"/>
          </p:nvPr>
        </p:nvSpPr>
        <p:spPr>
          <a:xfrm>
            <a:off x="26172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82" name="" descr=""/>
          <p:cNvPicPr/>
          <p:nvPr/>
        </p:nvPicPr>
        <p:blipFill>
          <a:blip r:embed="rId2"/>
          <a:stretch/>
        </p:blipFill>
        <p:spPr>
          <a:xfrm>
            <a:off x="1670040" y="968040"/>
            <a:ext cx="1035000" cy="825840"/>
          </a:xfrm>
          <a:prstGeom prst="rect">
            <a:avLst/>
          </a:prstGeom>
          <a:ln>
            <a:noFill/>
          </a:ln>
        </p:spPr>
      </p:pic>
      <p:pic>
        <p:nvPicPr>
          <p:cNvPr id="83" name="" descr=""/>
          <p:cNvPicPr/>
          <p:nvPr/>
        </p:nvPicPr>
        <p:blipFill>
          <a:blip r:embed="rId3"/>
          <a:stretch/>
        </p:blipFill>
        <p:spPr>
          <a:xfrm>
            <a:off x="1670040" y="968040"/>
            <a:ext cx="1035000" cy="825840"/>
          </a:xfrm>
          <a:prstGeom prst="rect">
            <a:avLst/>
          </a:prstGeom>
          <a:ln>
            <a:noFill/>
          </a:ln>
        </p:spPr>
      </p:pic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ubTitle"/>
          </p:nvPr>
        </p:nvSpPr>
        <p:spPr>
          <a:xfrm>
            <a:off x="261720" y="925200"/>
            <a:ext cx="3852360" cy="9118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subTitle"/>
          </p:nvPr>
        </p:nvSpPr>
        <p:spPr>
          <a:xfrm>
            <a:off x="216000" y="518400"/>
            <a:ext cx="4026240" cy="18486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26172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body"/>
          </p:nvPr>
        </p:nvSpPr>
        <p:spPr>
          <a:xfrm>
            <a:off x="223596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body"/>
          </p:nvPr>
        </p:nvSpPr>
        <p:spPr>
          <a:xfrm>
            <a:off x="261720" y="1399680"/>
            <a:ext cx="385236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body"/>
          </p:nvPr>
        </p:nvSpPr>
        <p:spPr>
          <a:xfrm>
            <a:off x="261720" y="1399680"/>
            <a:ext cx="385236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2235960" y="96804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 type="body"/>
          </p:nvPr>
        </p:nvSpPr>
        <p:spPr>
          <a:xfrm>
            <a:off x="223596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body"/>
          </p:nvPr>
        </p:nvSpPr>
        <p:spPr>
          <a:xfrm>
            <a:off x="261720" y="1399680"/>
            <a:ext cx="1879920" cy="393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82584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124" name="" descr=""/>
          <p:cNvPicPr/>
          <p:nvPr/>
        </p:nvPicPr>
        <p:blipFill>
          <a:blip r:embed="rId2"/>
          <a:stretch/>
        </p:blipFill>
        <p:spPr>
          <a:xfrm>
            <a:off x="1670040" y="968040"/>
            <a:ext cx="1035000" cy="825840"/>
          </a:xfrm>
          <a:prstGeom prst="rect">
            <a:avLst/>
          </a:prstGeom>
          <a:ln>
            <a:noFill/>
          </a:ln>
        </p:spPr>
      </p:pic>
      <p:pic>
        <p:nvPicPr>
          <p:cNvPr id="125" name="" descr=""/>
          <p:cNvPicPr/>
          <p:nvPr/>
        </p:nvPicPr>
        <p:blipFill>
          <a:blip r:embed="rId3"/>
          <a:stretch/>
        </p:blipFill>
        <p:spPr>
          <a:xfrm>
            <a:off x="1670040" y="968040"/>
            <a:ext cx="1035000" cy="82584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Relationship Id="rId10" Type="http://schemas.openxmlformats.org/officeDocument/2006/relationships/slideLayout" Target="../slideLayouts/slideLayout6.xml"/><Relationship Id="rId11" Type="http://schemas.openxmlformats.org/officeDocument/2006/relationships/slideLayout" Target="../slideLayouts/slideLayout7.xml"/><Relationship Id="rId12" Type="http://schemas.openxmlformats.org/officeDocument/2006/relationships/slideLayout" Target="../slideLayouts/slideLayout8.xml"/><Relationship Id="rId13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23.xml"/><Relationship Id="rId16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bg object 16" descr=""/>
          <p:cNvPicPr/>
          <p:nvPr/>
        </p:nvPicPr>
        <p:blipFill>
          <a:blip r:embed="rId2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" name="bg object 16" descr=""/>
          <p:cNvPicPr/>
          <p:nvPr/>
        </p:nvPicPr>
        <p:blipFill>
          <a:blip r:embed="rId3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2" name="bg object 17" descr=""/>
          <p:cNvPicPr/>
          <p:nvPr/>
        </p:nvPicPr>
        <p:blipFill>
          <a:blip r:embed="rId4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ftr"/>
          </p:nvPr>
        </p:nvSpPr>
        <p:spPr>
          <a:xfrm>
            <a:off x="1554480" y="3188880"/>
            <a:ext cx="1462680" cy="171000"/>
          </a:xfrm>
          <a:prstGeom prst="rect">
            <a:avLst/>
          </a:prstGeom>
        </p:spPr>
        <p:txBody>
          <a:bodyPr lIns="0" rIns="0" tIns="0" bIns="0"/>
          <a:p>
            <a:endParaRPr b="0" lang="pt-BR" sz="2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/>
          </p:nvPr>
        </p:nvSpPr>
        <p:spPr>
          <a:xfrm>
            <a:off x="228600" y="3188880"/>
            <a:ext cx="1051200" cy="171000"/>
          </a:xfrm>
          <a:prstGeom prst="rect">
            <a:avLst/>
          </a:prstGeom>
        </p:spPr>
        <p:txBody>
          <a:bodyPr lIns="0" rIns="0" tIns="0" bIns="0"/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b2b2b2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28/11/25</a:t>
            </a:r>
            <a:endParaRPr b="0" lang="pt-B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/>
          </p:nvPr>
        </p:nvSpPr>
        <p:spPr>
          <a:xfrm>
            <a:off x="3291840" y="3188880"/>
            <a:ext cx="1051200" cy="171000"/>
          </a:xfrm>
          <a:prstGeom prst="rect">
            <a:avLst/>
          </a:prstGeom>
        </p:spPr>
        <p:txBody>
          <a:bodyPr lIns="0" rIns="0" tIns="0" bIns="0"/>
          <a:p>
            <a:pPr algn="r">
              <a:lnSpc>
                <a:spcPct val="100000"/>
              </a:lnSpc>
            </a:pPr>
            <a:fld id="{ED6CB2DF-E94C-48A3-BAD2-22F7D2F8712C}" type="slidenum">
              <a:rPr b="0" lang="pt-BR" sz="1400" spc="-1" strike="noStrike">
                <a:solidFill>
                  <a:srgbClr val="b2b2b2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228600" y="136800"/>
            <a:ext cx="4114440" cy="572040"/>
          </a:xfrm>
          <a:prstGeom prst="rect">
            <a:avLst/>
          </a:prstGeom>
        </p:spPr>
        <p:txBody>
          <a:bodyPr lIns="0" rIns="0" tIns="0" bIns="0" anchor="ctr"/>
          <a:p>
            <a:pPr algn="ctr"/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228600" y="802080"/>
            <a:ext cx="4114440" cy="1988280"/>
          </a:xfrm>
          <a:prstGeom prst="rect">
            <a:avLst/>
          </a:prstGeom>
        </p:spPr>
        <p:txBody>
          <a:bodyPr lIns="0" rIns="0" tIns="0" bIns="0"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Clique para editar o formato do texto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1" marL="864000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2.º nível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2" marL="1296000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3.º nível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3" marL="1728000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4.º nível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4" marL="2160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5.º nível da estrutura de tópicos</a:t>
            </a:r>
            <a:endParaRPr b="0" lang="pt-B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5" marL="259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6.º nível da estrutura de tópicos</a:t>
            </a:r>
            <a:endParaRPr b="0" lang="pt-B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6" marL="3024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7.º nível da estrutura de tópicos</a:t>
            </a:r>
            <a:endParaRPr b="0" lang="pt-B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  <p:sldLayoutId id="2147483660" r:id="rId1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bg object 16" descr=""/>
          <p:cNvPicPr/>
          <p:nvPr/>
        </p:nvPicPr>
        <p:blipFill>
          <a:blip r:embed="rId2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43" name="bg object 16" descr=""/>
          <p:cNvPicPr/>
          <p:nvPr/>
        </p:nvPicPr>
        <p:blipFill>
          <a:blip r:embed="rId3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44" name="bg object 17" descr=""/>
          <p:cNvPicPr/>
          <p:nvPr/>
        </p:nvPicPr>
        <p:blipFill>
          <a:blip r:embed="rId4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261720" y="968040"/>
            <a:ext cx="3852360" cy="825840"/>
          </a:xfrm>
          <a:prstGeom prst="rect">
            <a:avLst/>
          </a:prstGeom>
        </p:spPr>
        <p:txBody>
          <a:bodyPr lIns="0" rIns="0" tIns="0" bIns="0"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Clique para editar o formato do texto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1" marL="864000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2.º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2" marL="1296000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3.º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3" marL="1728000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4.º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4" marL="2160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5.º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5" marL="259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6.º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6" marL="3024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7.º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/>
          </p:nvPr>
        </p:nvSpPr>
        <p:spPr>
          <a:xfrm>
            <a:off x="1554480" y="3188880"/>
            <a:ext cx="1462680" cy="171000"/>
          </a:xfrm>
          <a:prstGeom prst="rect">
            <a:avLst/>
          </a:prstGeom>
        </p:spPr>
        <p:txBody>
          <a:bodyPr lIns="0" rIns="0" tIns="0" bIns="0"/>
          <a:p>
            <a:endParaRPr b="0" lang="pt-BR" sz="2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/>
          </p:nvPr>
        </p:nvSpPr>
        <p:spPr>
          <a:xfrm>
            <a:off x="228600" y="3188880"/>
            <a:ext cx="1051200" cy="171000"/>
          </a:xfrm>
          <a:prstGeom prst="rect">
            <a:avLst/>
          </a:prstGeom>
        </p:spPr>
        <p:txBody>
          <a:bodyPr lIns="0" rIns="0" tIns="0" bIns="0"/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b2b2b2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28/11/25</a:t>
            </a:r>
            <a:endParaRPr b="0" lang="pt-B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/>
          </p:nvPr>
        </p:nvSpPr>
        <p:spPr>
          <a:xfrm>
            <a:off x="3291840" y="3188880"/>
            <a:ext cx="1051200" cy="171000"/>
          </a:xfrm>
          <a:prstGeom prst="rect">
            <a:avLst/>
          </a:prstGeom>
        </p:spPr>
        <p:txBody>
          <a:bodyPr lIns="0" rIns="0" tIns="0" bIns="0"/>
          <a:p>
            <a:pPr algn="r">
              <a:lnSpc>
                <a:spcPct val="100000"/>
              </a:lnSpc>
            </a:pPr>
            <a:fld id="{AC680C4A-D9B2-43B9-9055-CB84057E25F9}" type="slidenum">
              <a:rPr b="0" lang="pt-BR" sz="1400" spc="-1" strike="noStrike">
                <a:solidFill>
                  <a:srgbClr val="b2b2b2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bg object 16" descr=""/>
          <p:cNvPicPr/>
          <p:nvPr/>
        </p:nvPicPr>
        <p:blipFill>
          <a:blip r:embed="rId2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85" name="bg object 16" descr=""/>
          <p:cNvPicPr/>
          <p:nvPr/>
        </p:nvPicPr>
        <p:blipFill>
          <a:blip r:embed="rId3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86" name="bg object 17" descr=""/>
          <p:cNvPicPr/>
          <p:nvPr/>
        </p:nvPicPr>
        <p:blipFill>
          <a:blip r:embed="rId4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216000" y="518400"/>
            <a:ext cx="4026240" cy="398520"/>
          </a:xfrm>
          <a:prstGeom prst="rect">
            <a:avLst/>
          </a:prstGeom>
        </p:spPr>
        <p:txBody>
          <a:bodyPr lIns="0" rIns="0" tIns="0" bIns="0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ftr"/>
          </p:nvPr>
        </p:nvSpPr>
        <p:spPr>
          <a:xfrm>
            <a:off x="1554480" y="3188880"/>
            <a:ext cx="1462680" cy="171000"/>
          </a:xfrm>
          <a:prstGeom prst="rect">
            <a:avLst/>
          </a:prstGeom>
        </p:spPr>
        <p:txBody>
          <a:bodyPr lIns="0" rIns="0" tIns="0" bIns="0"/>
          <a:p>
            <a:endParaRPr b="0" lang="pt-BR" sz="2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dt"/>
          </p:nvPr>
        </p:nvSpPr>
        <p:spPr>
          <a:xfrm>
            <a:off x="228600" y="3188880"/>
            <a:ext cx="1051200" cy="171000"/>
          </a:xfrm>
          <a:prstGeom prst="rect">
            <a:avLst/>
          </a:prstGeom>
        </p:spPr>
        <p:txBody>
          <a:bodyPr lIns="0" rIns="0" tIns="0" bIns="0"/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b2b2b2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28/11/25</a:t>
            </a:r>
            <a:endParaRPr b="0" lang="pt-B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sldNum"/>
          </p:nvPr>
        </p:nvSpPr>
        <p:spPr>
          <a:xfrm>
            <a:off x="3291840" y="3188880"/>
            <a:ext cx="1051200" cy="171000"/>
          </a:xfrm>
          <a:prstGeom prst="rect">
            <a:avLst/>
          </a:prstGeom>
        </p:spPr>
        <p:txBody>
          <a:bodyPr lIns="0" rIns="0" tIns="0" bIns="0"/>
          <a:p>
            <a:pPr algn="r">
              <a:lnSpc>
                <a:spcPct val="100000"/>
              </a:lnSpc>
            </a:pPr>
            <a:fld id="{4B69D32F-A6B9-4D01-AD3F-F78A40953AD9}" type="slidenum">
              <a:rPr b="0" lang="pt-BR" sz="1400" spc="-1" strike="noStrike">
                <a:solidFill>
                  <a:srgbClr val="b2b2b2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body"/>
          </p:nvPr>
        </p:nvSpPr>
        <p:spPr>
          <a:xfrm>
            <a:off x="228600" y="802080"/>
            <a:ext cx="4114440" cy="1988280"/>
          </a:xfrm>
          <a:prstGeom prst="rect">
            <a:avLst/>
          </a:prstGeom>
        </p:spPr>
        <p:txBody>
          <a:bodyPr lIns="0" rIns="0" tIns="0" bIns="0"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Clique para editar o formato do texto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1" marL="864000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2.º nível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2" marL="1296000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3.º nível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3" marL="1728000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4.º nível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4" marL="2160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5.º nível da estrutura de tópicos</a:t>
            </a:r>
            <a:endParaRPr b="0" lang="pt-B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5" marL="259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6.º nível da estrutura de tópicos</a:t>
            </a:r>
            <a:endParaRPr b="0" lang="pt-B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6" marL="3024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7.º nível da estrutura de tópicos</a:t>
            </a:r>
            <a:endParaRPr b="0" lang="pt-B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jpeg"/><Relationship Id="rId4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slideLayout" Target="../slideLayouts/slideLayout2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52.png"/><Relationship Id="rId3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53.png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57.png"/><Relationship Id="rId2" Type="http://schemas.openxmlformats.org/officeDocument/2006/relationships/image" Target="../media/image58.png"/><Relationship Id="rId3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60.png"/><Relationship Id="rId3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image" Target="../media/image62.png"/><Relationship Id="rId3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hyperlink" Target="https://youtu.be/1ZFe-OqMB28" TargetMode="External"/><Relationship Id="rId2" Type="http://schemas.openxmlformats.org/officeDocument/2006/relationships/hyperlink" Target="https://youtu.be/1ZFe-OqMB28" TargetMode="External"/><Relationship Id="rId3" Type="http://schemas.openxmlformats.org/officeDocument/2006/relationships/hyperlink" Target="https://youtu.be/vtc5P6V_8t8" TargetMode="External"/><Relationship Id="rId4" Type="http://schemas.openxmlformats.org/officeDocument/2006/relationships/hyperlink" Target="https://youtu.be/VscBZSm4K10" TargetMode="External"/><Relationship Id="rId5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421200" y="2476440"/>
            <a:ext cx="390132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Prof. Eduardo Campos (CEFET-MG)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27" name="object 3" descr=""/>
          <p:cNvPicPr/>
          <p:nvPr/>
        </p:nvPicPr>
        <p:blipFill>
          <a:blip r:embed="rId1"/>
          <a:stretch/>
        </p:blipFill>
        <p:spPr>
          <a:xfrm>
            <a:off x="-36000" y="-18864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28" name="object 4" descr=""/>
          <p:cNvPicPr/>
          <p:nvPr/>
        </p:nvPicPr>
        <p:blipFill>
          <a:blip r:embed="rId2"/>
          <a:stretch/>
        </p:blipFill>
        <p:spPr>
          <a:xfrm>
            <a:off x="-36360" y="-188640"/>
            <a:ext cx="4572360" cy="509760"/>
          </a:xfrm>
          <a:prstGeom prst="rect">
            <a:avLst/>
          </a:prstGeom>
          <a:ln>
            <a:noFill/>
          </a:ln>
        </p:spPr>
      </p:pic>
      <p:pic>
        <p:nvPicPr>
          <p:cNvPr id="129" name="object 5" descr=""/>
          <p:cNvPicPr/>
          <p:nvPr/>
        </p:nvPicPr>
        <p:blipFill>
          <a:blip r:embed="rId3"/>
          <a:stretch/>
        </p:blipFill>
        <p:spPr>
          <a:xfrm>
            <a:off x="-3960" y="608400"/>
            <a:ext cx="1848240" cy="78444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31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32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261720" y="925560"/>
            <a:ext cx="4002120" cy="1313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usar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arquivos?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Permitem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armazenar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grande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quantidade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informação;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Persistência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dos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dados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(disco);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Acesso aos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poder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não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sequencial;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Acesso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concorrente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aos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(mais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32280">
              <a:lnSpc>
                <a:spcPct val="100000"/>
              </a:lnSpc>
            </a:pP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usar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ao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mesmo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tempo).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3" dur="indefinite" restart="never" nodeType="tmRoot">
          <p:childTnLst>
            <p:seq>
              <p:cTn id="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Tipos</a:t>
            </a: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35" name="TextShape 2"/>
          <p:cNvSpPr txBox="1"/>
          <p:nvPr/>
        </p:nvSpPr>
        <p:spPr>
          <a:xfrm>
            <a:off x="261720" y="968040"/>
            <a:ext cx="3852360" cy="191052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Basicamente,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linguagem</a:t>
            </a:r>
            <a:r>
              <a:rPr b="0" lang="pt-BR" sz="1300" spc="15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Python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trabalha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dois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tipos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1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1" lang="pt-BR" sz="1200" spc="13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texto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1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1" lang="pt-BR" sz="1200" spc="15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binário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timing>
    <p:tnLst>
      <p:par>
        <p:cTn id="5" dur="indefinite" restart="never" nodeType="tmRoot">
          <p:childTnLst>
            <p:seq>
              <p:cTn id="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37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38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Tipos</a:t>
            </a: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261720" y="925560"/>
            <a:ext cx="3866040" cy="141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texto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armazena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caracteres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podem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mostrados 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diretamente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tela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modificados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editor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textos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simples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como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Bloco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de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Notas.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são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gravados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como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caracteres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8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bits.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2" marL="469800" indent="-123480">
              <a:lnSpc>
                <a:spcPct val="100000"/>
              </a:lnSpc>
              <a:buClr>
                <a:srgbClr val="009dd9"/>
              </a:buClr>
              <a:buSzPct val="66000"/>
              <a:buFont typeface="DejaVu Sans"/>
              <a:buChar char="⚫"/>
            </a:pPr>
            <a:r>
              <a:rPr b="0" lang="pt-BR" sz="105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Ex.:</a:t>
            </a:r>
            <a:r>
              <a:rPr b="0" lang="pt-BR" sz="105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05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número</a:t>
            </a:r>
            <a:r>
              <a:rPr b="0" lang="pt-BR" sz="105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inteiro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05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32</a:t>
            </a:r>
            <a:r>
              <a:rPr b="0" lang="pt-BR" sz="105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bits</a:t>
            </a:r>
            <a:r>
              <a:rPr b="0" lang="pt-BR" sz="105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05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8</a:t>
            </a:r>
            <a:r>
              <a:rPr b="0" lang="pt-BR" sz="105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dígitos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ocupará</a:t>
            </a:r>
            <a:r>
              <a:rPr b="0" lang="pt-BR" sz="105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64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bits</a:t>
            </a:r>
            <a:r>
              <a:rPr b="0" lang="pt-BR" sz="105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05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05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(8</a:t>
            </a:r>
            <a:r>
              <a:rPr b="0" lang="pt-BR" sz="105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bits</a:t>
            </a:r>
            <a:r>
              <a:rPr b="0" lang="pt-BR" sz="105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</a:t>
            </a:r>
            <a:r>
              <a:rPr b="0" lang="pt-BR" sz="105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dígito).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7" dur="indefinite" restart="never" nodeType="tmRoot">
          <p:childTnLst>
            <p:seq>
              <p:cTn id="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Tipos</a:t>
            </a: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261720" y="926280"/>
            <a:ext cx="3908880" cy="1762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binário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armazena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sequência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bits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está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sujeita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convenções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dos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programas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gerou.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2" marL="469800" indent="-123480">
              <a:lnSpc>
                <a:spcPct val="100000"/>
              </a:lnSpc>
              <a:buClr>
                <a:srgbClr val="009dd9"/>
              </a:buClr>
              <a:buSzPct val="66000"/>
              <a:buFont typeface="DejaVu Sans"/>
              <a:buChar char="⚫"/>
            </a:pPr>
            <a:r>
              <a:rPr b="0" lang="pt-BR" sz="105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Ex:</a:t>
            </a:r>
            <a:r>
              <a:rPr b="0" lang="pt-BR" sz="1050" spc="24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arquivos</a:t>
            </a:r>
            <a:r>
              <a:rPr b="0" lang="pt-BR" sz="1050" spc="13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executáveis,</a:t>
            </a:r>
            <a:r>
              <a:rPr b="0" lang="pt-BR" sz="1050" spc="16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arquivos</a:t>
            </a:r>
            <a:r>
              <a:rPr b="0" lang="pt-BR" sz="1050" spc="13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compactados,</a:t>
            </a:r>
            <a:r>
              <a:rPr b="0" lang="pt-BR" sz="1050" spc="1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arquivos</a:t>
            </a:r>
            <a:r>
              <a:rPr b="0" lang="pt-BR" sz="105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registros,</a:t>
            </a:r>
            <a:r>
              <a:rPr b="0" lang="pt-BR" sz="105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etc.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são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gravados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forma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binária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(do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mesmo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modo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estão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memória).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2" marL="469800" indent="-123480">
              <a:lnSpc>
                <a:spcPct val="100000"/>
              </a:lnSpc>
              <a:buClr>
                <a:srgbClr val="009dd9"/>
              </a:buClr>
              <a:buSzPct val="66000"/>
              <a:buFont typeface="DejaVu Sans"/>
              <a:buChar char="⚫"/>
            </a:pPr>
            <a:r>
              <a:rPr b="0" lang="pt-BR" sz="105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Ex.:</a:t>
            </a:r>
            <a:r>
              <a:rPr b="0" lang="pt-BR" sz="105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05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número</a:t>
            </a:r>
            <a:r>
              <a:rPr b="0" lang="pt-BR" sz="105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inteiro </a:t>
            </a:r>
            <a:r>
              <a:rPr b="0" lang="pt-BR" sz="105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05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32</a:t>
            </a:r>
            <a:r>
              <a:rPr b="0" lang="pt-BR" sz="105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bits</a:t>
            </a:r>
            <a:r>
              <a:rPr b="0" lang="pt-BR" sz="105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05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8</a:t>
            </a:r>
            <a:r>
              <a:rPr b="0" lang="pt-BR" sz="105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dígitos</a:t>
            </a:r>
            <a:r>
              <a:rPr b="0" lang="pt-BR" sz="105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ocupará</a:t>
            </a:r>
            <a:r>
              <a:rPr b="0" lang="pt-BR" sz="105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32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bits</a:t>
            </a:r>
            <a:r>
              <a:rPr b="0" lang="pt-BR" sz="105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no</a:t>
            </a:r>
            <a:r>
              <a:rPr b="0" lang="pt-BR" sz="105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9" dur="indefinite" restart="never" nodeType="tmRoot">
          <p:childTnLst>
            <p:seq>
              <p:cTn id="1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43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44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Tipos</a:t>
            </a: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45" name="CustomShape 2"/>
          <p:cNvSpPr/>
          <p:nvPr/>
        </p:nvSpPr>
        <p:spPr>
          <a:xfrm>
            <a:off x="261720" y="967320"/>
            <a:ext cx="3637080" cy="106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Ex: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dois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trechos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abaixo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possuem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mesmo</a:t>
            </a:r>
            <a:r>
              <a:rPr b="0" lang="pt-BR" sz="13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: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08800">
              <a:lnSpc>
                <a:spcPct val="120000"/>
              </a:lnSpc>
            </a:pP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nome</a:t>
            </a:r>
            <a:r>
              <a:rPr b="0" lang="pt-BR" sz="12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“Ricardo”;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30;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088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1.74;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46" name="object 7" descr=""/>
          <p:cNvPicPr/>
          <p:nvPr/>
        </p:nvPicPr>
        <p:blipFill>
          <a:blip r:embed="rId3"/>
          <a:stretch/>
        </p:blipFill>
        <p:spPr>
          <a:xfrm>
            <a:off x="723960" y="2095560"/>
            <a:ext cx="3099960" cy="100440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11" dur="indefinite" restart="never" nodeType="tmRoot">
          <p:childTnLst>
            <p:seq>
              <p:cTn id="1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Manipulando</a:t>
            </a:r>
            <a:r>
              <a:rPr b="0" lang="pt-BR" sz="2500" spc="-5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48" name="CustomShape 2"/>
          <p:cNvSpPr/>
          <p:nvPr/>
        </p:nvSpPr>
        <p:spPr>
          <a:xfrm>
            <a:off x="261720" y="968040"/>
            <a:ext cx="4048920" cy="1647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linguagem</a:t>
            </a:r>
            <a:r>
              <a:rPr b="0" lang="pt-BR" sz="1300" spc="1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Python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possui</a:t>
            </a:r>
            <a:r>
              <a:rPr b="0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série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manipulação</a:t>
            </a:r>
            <a:r>
              <a:rPr b="0" lang="pt-BR" sz="13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Suas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limitam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abrir/fechar</a:t>
            </a:r>
            <a:r>
              <a:rPr b="0" lang="pt-BR" sz="1200" spc="-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ler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32280">
              <a:lnSpc>
                <a:spcPct val="100000"/>
              </a:lnSpc>
            </a:pP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caracteres/bytes/linhas</a:t>
            </a:r>
            <a:r>
              <a:rPr b="0" lang="pt-BR" sz="12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tarefa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programador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criar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lerá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maneira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específica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manipularmos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arquivo,</a:t>
            </a:r>
            <a:r>
              <a:rPr b="0" lang="pt-BR" sz="130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vamos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precisar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apenas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objeto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tipo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file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49" name="object 4" descr=""/>
          <p:cNvPicPr/>
          <p:nvPr/>
        </p:nvPicPr>
        <p:blipFill>
          <a:blip r:embed="rId1"/>
          <a:stretch/>
        </p:blipFill>
        <p:spPr>
          <a:xfrm>
            <a:off x="571680" y="2781360"/>
            <a:ext cx="3678840" cy="34272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13" dur="indefinite" restart="never" nodeType="tmRoot">
          <p:childTnLst>
            <p:seq>
              <p:cTn id="1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51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52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Abrindo</a:t>
            </a:r>
            <a:r>
              <a:rPr b="0" lang="pt-BR" sz="2500" spc="-6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um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53" name="CustomShape 2"/>
          <p:cNvSpPr/>
          <p:nvPr/>
        </p:nvSpPr>
        <p:spPr>
          <a:xfrm>
            <a:off x="261720" y="967320"/>
            <a:ext cx="3989520" cy="1553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abertura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arquivo,</a:t>
            </a:r>
            <a:r>
              <a:rPr b="0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usa-se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open()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53440">
              <a:lnSpc>
                <a:spcPct val="100000"/>
              </a:lnSpc>
            </a:pPr>
            <a:r>
              <a:rPr b="1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objeto-file</a:t>
            </a:r>
            <a:r>
              <a:rPr b="1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 </a:t>
            </a:r>
            <a:r>
              <a:rPr b="1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open(nome-</a:t>
            </a:r>
            <a:r>
              <a:rPr b="1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arquivo,modo-</a:t>
            </a:r>
            <a:r>
              <a:rPr b="1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abertura)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53440"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 algn="just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nome-</a:t>
            </a:r>
            <a:r>
              <a:rPr b="1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1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determina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qual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deverá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aberto,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sendo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mesmo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deve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válido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sistema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operacional</a:t>
            </a:r>
            <a:r>
              <a:rPr b="0" lang="pt-BR" sz="1300" spc="13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estiver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sendo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utilizado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15" dur="indefinite" restart="never" nodeType="tmRoot">
          <p:childTnLst>
            <p:seq>
              <p:cTn id="1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Abrindo</a:t>
            </a:r>
            <a:r>
              <a:rPr b="0" lang="pt-BR" sz="2500" spc="-6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um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55" name="CustomShape 2"/>
          <p:cNvSpPr/>
          <p:nvPr/>
        </p:nvSpPr>
        <p:spPr>
          <a:xfrm>
            <a:off x="261720" y="968040"/>
            <a:ext cx="3908160" cy="1958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nome-</a:t>
            </a:r>
            <a:r>
              <a:rPr b="1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1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pode-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trabalhar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caminhos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absolutos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relativos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Caminho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absoluto:</a:t>
            </a:r>
            <a:r>
              <a:rPr b="0" lang="pt-BR" sz="12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descrição</a:t>
            </a:r>
            <a:r>
              <a:rPr b="0" lang="pt-BR" sz="11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1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1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caminho</a:t>
            </a:r>
            <a:r>
              <a:rPr b="0" lang="pt-BR" sz="11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desde</a:t>
            </a:r>
            <a:r>
              <a:rPr b="0" lang="pt-BR" sz="11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32280">
              <a:lnSpc>
                <a:spcPct val="100000"/>
              </a:lnSpc>
            </a:pPr>
            <a:r>
              <a:rPr b="0" lang="pt-BR" sz="11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diretório</a:t>
            </a:r>
            <a:r>
              <a:rPr b="0" lang="pt-BR" sz="1100" spc="13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raiz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2" marL="469800" indent="-123480">
              <a:lnSpc>
                <a:spcPct val="100000"/>
              </a:lnSpc>
              <a:buClr>
                <a:srgbClr val="009dd9"/>
              </a:buClr>
              <a:buSzPct val="66000"/>
              <a:buFont typeface="DejaVu Sans"/>
              <a:buChar char="⚫"/>
            </a:pPr>
            <a:r>
              <a:rPr b="0" lang="pt-BR" sz="105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C:\\Projetos\\dados.txt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Caminho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relativo:</a:t>
            </a:r>
            <a:r>
              <a:rPr b="0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descrição</a:t>
            </a:r>
            <a:r>
              <a:rPr b="0" lang="pt-BR" sz="11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1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1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caminho</a:t>
            </a:r>
            <a:r>
              <a:rPr b="0" lang="pt-BR" sz="11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desde</a:t>
            </a:r>
            <a:r>
              <a:rPr b="0" lang="pt-BR" sz="11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 </a:t>
            </a:r>
            <a:r>
              <a:rPr b="0" lang="pt-BR" sz="11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1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diretório</a:t>
            </a:r>
            <a:r>
              <a:rPr b="0" lang="pt-BR" sz="11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corrente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2" marL="469800" indent="-123480">
              <a:lnSpc>
                <a:spcPct val="100000"/>
              </a:lnSpc>
              <a:buClr>
                <a:srgbClr val="009dd9"/>
              </a:buClr>
              <a:buSzPct val="66000"/>
              <a:buFont typeface="DejaVu Sans"/>
              <a:buChar char="⚫"/>
            </a:pPr>
            <a:r>
              <a:rPr b="0" lang="pt-BR" sz="105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arq.txt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2" marL="469800" indent="-123480">
              <a:lnSpc>
                <a:spcPct val="100000"/>
              </a:lnSpc>
              <a:buClr>
                <a:srgbClr val="009dd9"/>
              </a:buClr>
              <a:buSzPct val="66000"/>
              <a:buFont typeface="DejaVu Sans"/>
              <a:buChar char="⚫"/>
            </a:pPr>
            <a:r>
              <a:rPr b="0" lang="pt-BR" sz="105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..\\dados.txt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17" dur="indefinite" restart="never" nodeType="tmRoot">
          <p:childTnLst>
            <p:seq>
              <p:cTn id="1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57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58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Abrindo</a:t>
            </a:r>
            <a:r>
              <a:rPr b="0" lang="pt-BR" sz="2500" spc="-6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um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59" name="TextShape 2"/>
          <p:cNvSpPr txBox="1"/>
          <p:nvPr/>
        </p:nvSpPr>
        <p:spPr>
          <a:xfrm>
            <a:off x="261720" y="968040"/>
            <a:ext cx="3852360" cy="191052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modo</a:t>
            </a:r>
            <a:r>
              <a:rPr b="0" lang="pt-BR" sz="13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abertura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determina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tipo</a:t>
            </a:r>
            <a:r>
              <a:rPr b="0" lang="pt-BR" sz="13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uso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será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feito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tabela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seguir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mostra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válidos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abertura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timing>
    <p:tnLst>
      <p:par>
        <p:cTn id="19" dur="indefinite" restart="never" nodeType="tmRoot">
          <p:childTnLst>
            <p:seq>
              <p:cTn id="2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Shape 1"/>
          <p:cNvSpPr txBox="1"/>
          <p:nvPr/>
        </p:nvSpPr>
        <p:spPr>
          <a:xfrm>
            <a:off x="85320" y="158760"/>
            <a:ext cx="250776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Modos</a:t>
            </a: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1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abertura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graphicFrame>
        <p:nvGraphicFramePr>
          <p:cNvPr id="161" name="Table 2"/>
          <p:cNvGraphicFramePr/>
          <p:nvPr/>
        </p:nvGraphicFramePr>
        <p:xfrm>
          <a:off x="204120" y="720000"/>
          <a:ext cx="4114440" cy="2377080"/>
        </p:xfrm>
        <a:graphic>
          <a:graphicData uri="http://schemas.openxmlformats.org/drawingml/2006/table">
            <a:tbl>
              <a:tblPr/>
              <a:tblGrid>
                <a:gridCol w="380880"/>
                <a:gridCol w="647640"/>
                <a:gridCol w="3085920"/>
              </a:tblGrid>
              <a:tr h="182160">
                <a:tc>
                  <a:txBody>
                    <a:bodyPr lIns="0" rIns="0" tIns="51120" bIns="0"/>
                    <a:p>
                      <a:pPr marL="1800" algn="ctr">
                        <a:lnSpc>
                          <a:spcPct val="100000"/>
                        </a:lnSpc>
                      </a:pPr>
                      <a:r>
                        <a:rPr b="1" i="1" lang="pt-BR" sz="700" spc="-18" strike="noStrike">
                          <a:solidFill>
                            <a:srgbClr val="ffffff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Modo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 lIns="0" rIns="0" tIns="5112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i="1" lang="pt-BR" sz="700" spc="-9" strike="noStrike">
                          <a:solidFill>
                            <a:srgbClr val="ffffff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 lIns="0" rIns="0" tIns="51120" bIns="0"/>
                    <a:p>
                      <a:pPr marL="2520" algn="ctr">
                        <a:lnSpc>
                          <a:spcPct val="100000"/>
                        </a:lnSpc>
                      </a:pPr>
                      <a:r>
                        <a:rPr b="1" i="1" lang="pt-BR" sz="700" spc="-9" strike="noStrike">
                          <a:solidFill>
                            <a:srgbClr val="ffffff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Função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000080"/>
                    </a:solidFill>
                  </a:tcPr>
                </a:tc>
              </a:tr>
              <a:tr h="151560">
                <a:tc>
                  <a:txBody>
                    <a:bodyPr lIns="0" rIns="0" tIns="2124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2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"r"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2124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Texto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2124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Leitura.</a:t>
                      </a:r>
                      <a:r>
                        <a:rPr b="0" lang="pt-BR" sz="700" spc="-3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deve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existir.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52280">
                <a:tc>
                  <a:txBody>
                    <a:bodyPr lIns="0" rIns="0" tIns="2124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2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"w"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2124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Texto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2124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Escrita.</a:t>
                      </a:r>
                      <a:r>
                        <a:rPr b="0" lang="pt-BR" sz="700" spc="-3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Cria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se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não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houver.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Apaga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o</a:t>
                      </a:r>
                      <a:r>
                        <a:rPr b="0" lang="pt-BR" sz="700" spc="-2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anterior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se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ele</a:t>
                      </a:r>
                      <a:r>
                        <a:rPr b="0" lang="pt-BR" sz="700" spc="-2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existir.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52280">
                <a:tc>
                  <a:txBody>
                    <a:bodyPr lIns="0" rIns="0" tIns="21240" bIns="0"/>
                    <a:p>
                      <a:pPr marL="720" algn="ctr">
                        <a:lnSpc>
                          <a:spcPct val="100000"/>
                        </a:lnSpc>
                      </a:pPr>
                      <a:r>
                        <a:rPr b="0" lang="pt-BR" sz="700" spc="-2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"a"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2124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Texto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2124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Escrita.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Os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dados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serão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adicionados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no</a:t>
                      </a:r>
                      <a:r>
                        <a:rPr b="0" lang="pt-BR" sz="700" spc="-3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fim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do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("append").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98720">
                <a:tc>
                  <a:txBody>
                    <a:bodyPr lIns="0" rIns="0" tIns="6840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"rb"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840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Binário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840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Leitura.</a:t>
                      </a:r>
                      <a:r>
                        <a:rPr b="0" lang="pt-BR" sz="700" spc="-3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deve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existir.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98000">
                <a:tc>
                  <a:txBody>
                    <a:bodyPr lIns="0" rIns="0" tIns="6768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"wb"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Binário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Escrita.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Cria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r>
                        <a:rPr b="0" lang="pt-BR" sz="700" spc="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se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não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houver.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Apaga o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anterior se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ele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existir.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98000">
                <a:tc>
                  <a:txBody>
                    <a:bodyPr lIns="0" rIns="0" tIns="67680" bIns="0"/>
                    <a:p>
                      <a:pPr marL="720" algn="ctr">
                        <a:lnSpc>
                          <a:spcPct val="100000"/>
                        </a:lnSpc>
                      </a:pP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"ab"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Binário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Escrita.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Os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dados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serão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adicionados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no</a:t>
                      </a:r>
                      <a:r>
                        <a:rPr b="0" lang="pt-BR" sz="700" spc="-3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fim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do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("append").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52280">
                <a:tc>
                  <a:txBody>
                    <a:bodyPr lIns="0" rIns="0" tIns="2124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"r+"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2124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Texto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2124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Leitura/Escrita.</a:t>
                      </a:r>
                      <a:r>
                        <a:rPr b="0" lang="pt-BR" sz="700" spc="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O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deve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existir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pode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ser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modificado.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98000">
                <a:tc>
                  <a:txBody>
                    <a:bodyPr lIns="0" rIns="0" tIns="6768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"w+"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Texto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Leitura/Escrita.</a:t>
                      </a:r>
                      <a:r>
                        <a:rPr b="0" lang="pt-BR" sz="700" spc="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Cria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 se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não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houver.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Apaga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o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anterior se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ele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existir.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98000">
                <a:tc>
                  <a:txBody>
                    <a:bodyPr lIns="0" rIns="0" tIns="6768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"a+"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Texto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Leitura/Escrita.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Os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dados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serão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adicionados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no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fim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do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("append").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98720">
                <a:tc>
                  <a:txBody>
                    <a:bodyPr lIns="0" rIns="0" tIns="6840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"rb+"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840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Binário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840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Leitura/Escrita.</a:t>
                      </a:r>
                      <a:r>
                        <a:rPr b="0" lang="pt-BR" sz="700" spc="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O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deve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existir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pode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ser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modificado.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98000">
                <a:tc>
                  <a:txBody>
                    <a:bodyPr lIns="0" rIns="0" tIns="6768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"wb+"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Binário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Leitura/Escrita.</a:t>
                      </a:r>
                      <a:r>
                        <a:rPr b="0" lang="pt-BR" sz="700" spc="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Cria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 se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não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houver.</a:t>
                      </a:r>
                      <a:r>
                        <a:rPr b="0" lang="pt-BR" sz="700" spc="-2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Apaga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o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anterior se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ele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existir.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  <a:tr h="199080">
                <a:tc>
                  <a:txBody>
                    <a:bodyPr lIns="0" rIns="0" tIns="67680" bIns="0"/>
                    <a:p>
                      <a:pPr marL="720"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"ab+"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Binário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0" rIns="0" tIns="67680" bIns="0"/>
                    <a:p>
                      <a:pPr marL="45720">
                        <a:lnSpc>
                          <a:spcPct val="100000"/>
                        </a:lnSpc>
                      </a:pP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Leitura/Escrita.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Os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dados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serão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adicionados</a:t>
                      </a:r>
                      <a:r>
                        <a:rPr b="0" lang="pt-BR" sz="700" spc="-4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no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fim</a:t>
                      </a:r>
                      <a:r>
                        <a:rPr b="0" lang="pt-BR" sz="700" spc="-12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do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1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arquivo</a:t>
                      </a:r>
                      <a:r>
                        <a:rPr b="0" lang="pt-BR" sz="700" spc="-18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 </a:t>
                      </a:r>
                      <a:r>
                        <a:rPr b="0" lang="pt-BR" sz="700" spc="-9" strike="noStrike">
                          <a:solidFill>
                            <a:srgbClr val="000080"/>
                          </a:solidFill>
                          <a:uFill>
                            <a:solidFill>
                              <a:srgbClr val="ffffff"/>
                            </a:solidFill>
                          </a:uFill>
                          <a:latin typeface="Arial"/>
                        </a:rPr>
                        <a:t>("append").</a:t>
                      </a:r>
                      <a:endParaRPr b="0" lang="pt-BR" sz="1800" spc="-1" strike="noStrike">
                        <a:solidFill>
                          <a:srgbClr val="000000"/>
                        </a:solidFill>
                        <a:uFill>
                          <a:solidFill>
                            <a:srgbClr val="ffffff"/>
                          </a:solidFill>
                        </a:u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000000"/>
                      </a:solidFill>
                    </a:lnL>
                    <a:lnR w="6480">
                      <a:solidFill>
                        <a:srgbClr val="000000"/>
                      </a:solidFill>
                    </a:lnR>
                    <a:lnT w="6480">
                      <a:solidFill>
                        <a:srgbClr val="000000"/>
                      </a:solidFill>
                    </a:lnT>
                    <a:lnB w="6480">
                      <a:solidFill>
                        <a:srgbClr val="000000"/>
                      </a:solidFill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timing>
    <p:tnLst>
      <p:par>
        <p:cTn id="21" dur="indefinite" restart="never" nodeType="tmRoot">
          <p:childTnLst>
            <p:seq>
              <p:cTn id="2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63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64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Abrindo</a:t>
            </a:r>
            <a:r>
              <a:rPr b="0" lang="pt-BR" sz="2500" spc="-6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um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261720" y="967320"/>
            <a:ext cx="3361320" cy="408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texto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aberto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escrita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utilizando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seguinte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conjunto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comandos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261720" y="1878840"/>
            <a:ext cx="3804480" cy="408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Neste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caso,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texte.txt</a:t>
            </a:r>
            <a:r>
              <a:rPr b="1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será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aberto.</a:t>
            </a:r>
            <a:r>
              <a:rPr b="0" lang="pt-BR" sz="1300" spc="13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Agora</a:t>
            </a:r>
            <a:r>
              <a:rPr b="0" lang="pt-BR" sz="130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já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>
              <a:lnSpc>
                <a:spcPct val="100000"/>
              </a:lnSpc>
            </a:pP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podemos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escrever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dados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fechá-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67" name="object 9" descr=""/>
          <p:cNvPicPr/>
          <p:nvPr/>
        </p:nvPicPr>
        <p:blipFill>
          <a:blip r:embed="rId3"/>
          <a:stretch/>
        </p:blipFill>
        <p:spPr>
          <a:xfrm>
            <a:off x="1333440" y="1552680"/>
            <a:ext cx="1471320" cy="199800"/>
          </a:xfrm>
          <a:prstGeom prst="rect">
            <a:avLst/>
          </a:prstGeom>
          <a:ln>
            <a:noFill/>
          </a:ln>
        </p:spPr>
      </p:pic>
      <p:pic>
        <p:nvPicPr>
          <p:cNvPr id="168" name="object 10" descr=""/>
          <p:cNvPicPr/>
          <p:nvPr/>
        </p:nvPicPr>
        <p:blipFill>
          <a:blip r:embed="rId4"/>
          <a:stretch/>
        </p:blipFill>
        <p:spPr>
          <a:xfrm>
            <a:off x="1333440" y="2476440"/>
            <a:ext cx="1621440" cy="36396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23" dur="indefinite" restart="never" nodeType="tmRoot">
          <p:childTnLst>
            <p:seq>
              <p:cTn id="2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Fechando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um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70" name="CustomShape 2"/>
          <p:cNvSpPr/>
          <p:nvPr/>
        </p:nvSpPr>
        <p:spPr>
          <a:xfrm>
            <a:off x="261720" y="968040"/>
            <a:ext cx="3933360" cy="1536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visto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slide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anterior,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sempre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terminamos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usar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foi</a:t>
            </a:r>
            <a:r>
              <a:rPr b="0" lang="pt-BR" sz="13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aberto,</a:t>
            </a:r>
            <a:r>
              <a:rPr b="0" lang="pt-BR" sz="1300" spc="15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devemos</a:t>
            </a:r>
            <a:r>
              <a:rPr b="0" lang="pt-BR" sz="130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fechá-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lo.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isso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usa-se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close()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14480" algn="ctr">
              <a:lnSpc>
                <a:spcPct val="100000"/>
              </a:lnSpc>
            </a:pPr>
            <a:r>
              <a:rPr b="1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objeto-</a:t>
            </a:r>
            <a:r>
              <a:rPr b="1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file.close()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14480"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precisamos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fechar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arquivo?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25" dur="indefinite" restart="never" nodeType="tmRoot">
          <p:childTnLst>
            <p:seq>
              <p:cTn id="2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72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73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Fechando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um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74" name="CustomShape 2"/>
          <p:cNvSpPr/>
          <p:nvPr/>
        </p:nvSpPr>
        <p:spPr>
          <a:xfrm>
            <a:off x="261720" y="925560"/>
            <a:ext cx="3979800" cy="164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precisamos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fechar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arquivo?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fechar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arquivo,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todo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tenha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permanecido</a:t>
            </a:r>
            <a:r>
              <a:rPr b="0" lang="pt-BR" sz="12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2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"buffer"</a:t>
            </a:r>
            <a:r>
              <a:rPr b="0" lang="pt-BR" sz="120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gravado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"buffer“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região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memória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armazena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temporariamente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caracteres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serem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gravados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 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disco</a:t>
            </a:r>
            <a:r>
              <a:rPr b="0" lang="pt-BR" sz="120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imediatamente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Apenas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quando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"buffer"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está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cheio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seu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conteúdo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escrito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disco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27" dur="indefinite" restart="never" nodeType="tmRoot">
          <p:childTnLst>
            <p:seq>
              <p:cTn id="2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Fechando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um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261720" y="926280"/>
            <a:ext cx="3998160" cy="1985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42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Mas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utilizar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“buffer”??</a:t>
            </a:r>
            <a:r>
              <a:rPr b="0" lang="pt-BR" sz="13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Eficiência!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ts val="459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ler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escrever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arquivos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disco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temos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que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posicionar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cabeça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gravação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ponto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específico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200" spc="-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disco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ts val="459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tivéssemos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fazer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isso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cada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lido/escrito, a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leitura/escrita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seria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operação</a:t>
            </a:r>
            <a:r>
              <a:rPr b="0" lang="pt-BR" sz="12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muita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lenta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 algn="just">
              <a:lnSpc>
                <a:spcPts val="459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Assim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gravação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só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realizada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quando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há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volume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razoável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informações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serem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gravadas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quando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fechado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29" dur="indefinite" restart="never" nodeType="tmRoot">
          <p:childTnLst>
            <p:seq>
              <p:cTn id="3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Fechando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um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178" name="object 4" descr=""/>
          <p:cNvPicPr/>
          <p:nvPr/>
        </p:nvPicPr>
        <p:blipFill>
          <a:blip r:embed="rId1"/>
          <a:stretch/>
        </p:blipFill>
        <p:spPr>
          <a:xfrm>
            <a:off x="457200" y="1181160"/>
            <a:ext cx="2328480" cy="885600"/>
          </a:xfrm>
          <a:prstGeom prst="rect">
            <a:avLst/>
          </a:prstGeom>
          <a:ln>
            <a:noFill/>
          </a:ln>
        </p:spPr>
      </p:pic>
      <p:pic>
        <p:nvPicPr>
          <p:cNvPr id="179" name="object 5" descr=""/>
          <p:cNvPicPr/>
          <p:nvPr/>
        </p:nvPicPr>
        <p:blipFill>
          <a:blip r:embed="rId2"/>
          <a:stretch/>
        </p:blipFill>
        <p:spPr>
          <a:xfrm>
            <a:off x="3009960" y="1181160"/>
            <a:ext cx="1414080" cy="985320"/>
          </a:xfrm>
          <a:prstGeom prst="rect">
            <a:avLst/>
          </a:prstGeom>
          <a:ln>
            <a:noFill/>
          </a:ln>
        </p:spPr>
      </p:pic>
      <p:pic>
        <p:nvPicPr>
          <p:cNvPr id="180" name="object 6" descr=""/>
          <p:cNvPicPr/>
          <p:nvPr/>
        </p:nvPicPr>
        <p:blipFill>
          <a:blip r:embed="rId3"/>
          <a:stretch/>
        </p:blipFill>
        <p:spPr>
          <a:xfrm>
            <a:off x="457200" y="2293200"/>
            <a:ext cx="2328480" cy="885600"/>
          </a:xfrm>
          <a:prstGeom prst="rect">
            <a:avLst/>
          </a:prstGeom>
          <a:ln>
            <a:noFill/>
          </a:ln>
        </p:spPr>
      </p:pic>
      <p:sp>
        <p:nvSpPr>
          <p:cNvPr id="181" name="CustomShape 2"/>
          <p:cNvSpPr/>
          <p:nvPr/>
        </p:nvSpPr>
        <p:spPr>
          <a:xfrm>
            <a:off x="457200" y="1905840"/>
            <a:ext cx="1021320" cy="151920"/>
          </a:xfrm>
          <a:custGeom>
            <a:avLst/>
            <a:gdLst/>
            <a:ahLst/>
            <a:rect l="l" t="t" r="r" b="b"/>
            <a:pathLst>
              <a:path w="1021715" h="152400">
                <a:moveTo>
                  <a:pt x="0" y="152400"/>
                </a:moveTo>
                <a:lnTo>
                  <a:pt x="1021549" y="152400"/>
                </a:lnTo>
                <a:lnTo>
                  <a:pt x="1021549" y="0"/>
                </a:lnTo>
                <a:lnTo>
                  <a:pt x="0" y="0"/>
                </a:lnTo>
                <a:lnTo>
                  <a:pt x="0" y="152400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CustomShape 3"/>
          <p:cNvSpPr/>
          <p:nvPr/>
        </p:nvSpPr>
        <p:spPr>
          <a:xfrm>
            <a:off x="457200" y="3009960"/>
            <a:ext cx="1021320" cy="151920"/>
          </a:xfrm>
          <a:custGeom>
            <a:avLst/>
            <a:gdLst/>
            <a:ahLst/>
            <a:rect l="l" t="t" r="r" b="b"/>
            <a:pathLst>
              <a:path w="1021715" h="152400">
                <a:moveTo>
                  <a:pt x="1021549" y="0"/>
                </a:moveTo>
                <a:lnTo>
                  <a:pt x="0" y="0"/>
                </a:lnTo>
                <a:lnTo>
                  <a:pt x="0" y="152400"/>
                </a:lnTo>
                <a:lnTo>
                  <a:pt x="1021549" y="152400"/>
                </a:lnTo>
                <a:lnTo>
                  <a:pt x="1021549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CustomShape 4"/>
          <p:cNvSpPr/>
          <p:nvPr/>
        </p:nvSpPr>
        <p:spPr>
          <a:xfrm>
            <a:off x="457200" y="3009960"/>
            <a:ext cx="1021320" cy="151920"/>
          </a:xfrm>
          <a:custGeom>
            <a:avLst/>
            <a:gdLst/>
            <a:ahLst/>
            <a:rect l="l" t="t" r="r" b="b"/>
            <a:pathLst>
              <a:path w="1021715" h="152400">
                <a:moveTo>
                  <a:pt x="0" y="152400"/>
                </a:moveTo>
                <a:lnTo>
                  <a:pt x="1021549" y="152400"/>
                </a:lnTo>
                <a:lnTo>
                  <a:pt x="1021549" y="0"/>
                </a:lnTo>
                <a:lnTo>
                  <a:pt x="0" y="0"/>
                </a:lnTo>
                <a:lnTo>
                  <a:pt x="0" y="152400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84" name="object 10" descr=""/>
          <p:cNvPicPr/>
          <p:nvPr/>
        </p:nvPicPr>
        <p:blipFill>
          <a:blip r:embed="rId4"/>
          <a:stretch/>
        </p:blipFill>
        <p:spPr>
          <a:xfrm>
            <a:off x="3009960" y="2293200"/>
            <a:ext cx="1414080" cy="985320"/>
          </a:xfrm>
          <a:prstGeom prst="rect">
            <a:avLst/>
          </a:prstGeom>
          <a:ln>
            <a:noFill/>
          </a:ln>
        </p:spPr>
      </p:pic>
      <p:sp>
        <p:nvSpPr>
          <p:cNvPr id="185" name="CustomShape 5"/>
          <p:cNvSpPr/>
          <p:nvPr/>
        </p:nvSpPr>
        <p:spPr>
          <a:xfrm>
            <a:off x="3176280" y="2760480"/>
            <a:ext cx="1021320" cy="532440"/>
          </a:xfrm>
          <a:custGeom>
            <a:avLst/>
            <a:gdLst/>
            <a:ahLst/>
            <a:rect l="l" t="t" r="r" b="b"/>
            <a:pathLst>
              <a:path w="1021714" h="532764">
                <a:moveTo>
                  <a:pt x="1021549" y="0"/>
                </a:moveTo>
                <a:lnTo>
                  <a:pt x="0" y="0"/>
                </a:lnTo>
                <a:lnTo>
                  <a:pt x="0" y="532536"/>
                </a:lnTo>
                <a:lnTo>
                  <a:pt x="1021549" y="532536"/>
                </a:lnTo>
                <a:lnTo>
                  <a:pt x="1021549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CustomShape 6"/>
          <p:cNvSpPr/>
          <p:nvPr/>
        </p:nvSpPr>
        <p:spPr>
          <a:xfrm>
            <a:off x="3176280" y="2760480"/>
            <a:ext cx="1021320" cy="532440"/>
          </a:xfrm>
          <a:custGeom>
            <a:avLst/>
            <a:gdLst/>
            <a:ahLst/>
            <a:rect l="l" t="t" r="r" b="b"/>
            <a:pathLst>
              <a:path w="1021714" h="532764">
                <a:moveTo>
                  <a:pt x="0" y="532536"/>
                </a:moveTo>
                <a:lnTo>
                  <a:pt x="1021549" y="532536"/>
                </a:lnTo>
                <a:lnTo>
                  <a:pt x="1021549" y="0"/>
                </a:lnTo>
                <a:lnTo>
                  <a:pt x="0" y="0"/>
                </a:lnTo>
                <a:lnTo>
                  <a:pt x="0" y="532536"/>
                </a:lnTo>
                <a:close/>
              </a:path>
            </a:pathLst>
          </a:custGeom>
          <a:noFill/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p:timing>
    <p:tnLst>
      <p:par>
        <p:cTn id="31" dur="indefinite" restart="never" nodeType="tmRoot">
          <p:childTnLst>
            <p:seq>
              <p:cTn id="3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Escrita/Leitura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em</a:t>
            </a:r>
            <a:r>
              <a:rPr b="0" lang="pt-BR" sz="2500" spc="-5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88" name="CustomShape 2"/>
          <p:cNvSpPr/>
          <p:nvPr/>
        </p:nvSpPr>
        <p:spPr>
          <a:xfrm>
            <a:off x="261720" y="968040"/>
            <a:ext cx="3935880" cy="184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vez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arquivo,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podemos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ler</a:t>
            </a:r>
            <a:r>
              <a:rPr b="0" lang="pt-BR" sz="13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escrever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nele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tanto,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linguagem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Python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conta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série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escrita/leitura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variam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de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funcionalidade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atender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diversas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aplicações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Todas</a:t>
            </a:r>
            <a:r>
              <a:rPr b="0" lang="pt-BR" sz="12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</a:t>
            </a:r>
            <a:r>
              <a:rPr b="0" lang="pt-BR" sz="12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serão</a:t>
            </a:r>
            <a:r>
              <a:rPr b="0" lang="pt-BR" sz="12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vistas</a:t>
            </a:r>
            <a:r>
              <a:rPr b="0" lang="pt-BR" sz="12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trabalham</a:t>
            </a:r>
            <a:r>
              <a:rPr b="0" lang="pt-BR" sz="12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20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escrita/leitura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de </a:t>
            </a:r>
            <a:r>
              <a:rPr b="1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strings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Cabe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programador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tratar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escritos/lidos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200" spc="-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33" dur="indefinite" restart="never" nodeType="tmRoot">
          <p:childTnLst>
            <p:seq>
              <p:cTn id="3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90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91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Posição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do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92" name="CustomShape 2"/>
          <p:cNvSpPr/>
          <p:nvPr/>
        </p:nvSpPr>
        <p:spPr>
          <a:xfrm>
            <a:off x="261720" y="947520"/>
            <a:ext cx="3880800" cy="2430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4920" bIns="0"/>
          <a:p>
            <a:pPr marL="149400" indent="-139320">
              <a:lnSpc>
                <a:spcPts val="494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trabalhar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arquivos,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existe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espécie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de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posição</a:t>
            </a:r>
            <a:r>
              <a:rPr b="0" lang="pt-BR" sz="13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onde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estamos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arquivo.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nessa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posição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onde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será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lido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escrito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próximo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cadeia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>
              <a:lnSpc>
                <a:spcPts val="497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Quando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utilizando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acesso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sequencial,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raramente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necessário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modificar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essa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posição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ts val="459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Após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cada</a:t>
            </a:r>
            <a:r>
              <a:rPr b="0" lang="pt-BR" sz="12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leitura,</a:t>
            </a:r>
            <a:r>
              <a:rPr b="0" lang="pt-BR" sz="120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posição</a:t>
            </a:r>
            <a:r>
              <a:rPr b="0" lang="pt-BR" sz="12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automaticamente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atualizada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 a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próxima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posição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ts val="459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Após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cada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escrita,</a:t>
            </a:r>
            <a:r>
              <a:rPr b="0" lang="pt-BR" sz="12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posição</a:t>
            </a:r>
            <a:r>
              <a:rPr b="0" lang="pt-BR" sz="12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automaticamente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atualizada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 a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próxima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posição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escrita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35" dur="indefinite" restart="never" nodeType="tmRoot">
          <p:childTnLst>
            <p:seq>
              <p:cTn id="3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Escrita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em</a:t>
            </a:r>
            <a:r>
              <a:rPr b="0" lang="pt-BR" sz="2500" spc="-6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94" name="CustomShape 2"/>
          <p:cNvSpPr/>
          <p:nvPr/>
        </p:nvSpPr>
        <p:spPr>
          <a:xfrm>
            <a:off x="261720" y="968040"/>
            <a:ext cx="3910680" cy="1734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escrever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usa-se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write()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Forma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geral: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165320">
              <a:lnSpc>
                <a:spcPct val="100000"/>
              </a:lnSpc>
            </a:pPr>
            <a:r>
              <a:rPr b="1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objeto-</a:t>
            </a:r>
            <a:r>
              <a:rPr b="1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file.write(string)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165320"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Esta</a:t>
            </a:r>
            <a:r>
              <a:rPr b="0" lang="pt-BR" sz="130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recebe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como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300" spc="13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cadeia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caracteres</a:t>
            </a:r>
            <a:r>
              <a:rPr b="0" lang="pt-BR" sz="130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</a:t>
            </a:r>
            <a:r>
              <a:rPr b="1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será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escrita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aberto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especificado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</a:t>
            </a:r>
            <a:r>
              <a:rPr b="0" lang="pt-BR" sz="130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objeto-</a:t>
            </a:r>
            <a:r>
              <a:rPr b="1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file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37" dur="indefinite" restart="never" nodeType="tmRoot">
          <p:childTnLst>
            <p:seq>
              <p:cTn id="3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96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97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Escrita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em</a:t>
            </a:r>
            <a:r>
              <a:rPr b="0" lang="pt-BR" sz="2500" spc="-6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98" name="CustomShape 2"/>
          <p:cNvSpPr/>
          <p:nvPr/>
        </p:nvSpPr>
        <p:spPr>
          <a:xfrm>
            <a:off x="261720" y="967320"/>
            <a:ext cx="136368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write()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9" name="CustomShape 3"/>
          <p:cNvSpPr/>
          <p:nvPr/>
        </p:nvSpPr>
        <p:spPr>
          <a:xfrm>
            <a:off x="398880" y="1165680"/>
            <a:ext cx="1758600" cy="1953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permite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gravar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strings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contendo</a:t>
            </a:r>
            <a:r>
              <a:rPr b="0" lang="pt-BR" sz="1300" spc="-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qualquer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tipo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dado,</a:t>
            </a:r>
            <a:r>
              <a:rPr b="0" lang="pt-BR" sz="1300" spc="18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inclusive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formatados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sequências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escape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9296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Cabe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então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programador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colocar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serem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gravados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2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00" name="object 9" descr=""/>
          <p:cNvPicPr/>
          <p:nvPr/>
        </p:nvPicPr>
        <p:blipFill>
          <a:blip r:embed="rId3"/>
          <a:stretch/>
        </p:blipFill>
        <p:spPr>
          <a:xfrm>
            <a:off x="2250360" y="2328840"/>
            <a:ext cx="1464120" cy="992520"/>
          </a:xfrm>
          <a:prstGeom prst="rect">
            <a:avLst/>
          </a:prstGeom>
          <a:ln>
            <a:noFill/>
          </a:ln>
        </p:spPr>
      </p:pic>
      <p:pic>
        <p:nvPicPr>
          <p:cNvPr id="201" name="object 10" descr=""/>
          <p:cNvPicPr/>
          <p:nvPr/>
        </p:nvPicPr>
        <p:blipFill>
          <a:blip r:embed="rId4"/>
          <a:stretch/>
        </p:blipFill>
        <p:spPr>
          <a:xfrm>
            <a:off x="2250360" y="1289160"/>
            <a:ext cx="2285640" cy="856800"/>
          </a:xfrm>
          <a:prstGeom prst="rect">
            <a:avLst/>
          </a:prstGeom>
          <a:ln>
            <a:noFill/>
          </a:ln>
        </p:spPr>
      </p:pic>
      <p:sp>
        <p:nvSpPr>
          <p:cNvPr id="202" name="CustomShape 4"/>
          <p:cNvSpPr/>
          <p:nvPr/>
        </p:nvSpPr>
        <p:spPr>
          <a:xfrm>
            <a:off x="2248200" y="2143080"/>
            <a:ext cx="40788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03" name="CustomShape 5"/>
          <p:cNvSpPr/>
          <p:nvPr/>
        </p:nvSpPr>
        <p:spPr>
          <a:xfrm>
            <a:off x="2212560" y="1071360"/>
            <a:ext cx="64404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39" dur="indefinite" restart="never" nodeType="tmRoot">
          <p:childTnLst>
            <p:seq>
              <p:cTn id="4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Leitura</a:t>
            </a:r>
            <a:r>
              <a:rPr b="0" lang="pt-BR" sz="2500" spc="-8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em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261720" y="968040"/>
            <a:ext cx="3910680" cy="1287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Enquanto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escrever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arquivos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utilizamos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apenas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write()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,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ler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temos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várias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opções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1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objeto-</a:t>
            </a:r>
            <a:r>
              <a:rPr b="1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file.read()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1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objeto-</a:t>
            </a:r>
            <a:r>
              <a:rPr b="1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file.read(n)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1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objeto-</a:t>
            </a:r>
            <a:r>
              <a:rPr b="1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file.readline()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1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objeto-</a:t>
            </a:r>
            <a:r>
              <a:rPr b="1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file.readlines()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41" dur="indefinite" restart="never" nodeType="tmRoot">
          <p:childTnLst>
            <p:seq>
              <p:cTn id="4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207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208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Leitura</a:t>
            </a:r>
            <a:r>
              <a:rPr b="0" lang="pt-BR" sz="2500" spc="-8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em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209" name="object 7" descr=""/>
          <p:cNvPicPr/>
          <p:nvPr/>
        </p:nvPicPr>
        <p:blipFill>
          <a:blip r:embed="rId3"/>
          <a:stretch/>
        </p:blipFill>
        <p:spPr>
          <a:xfrm>
            <a:off x="2893320" y="1321560"/>
            <a:ext cx="1607040" cy="528120"/>
          </a:xfrm>
          <a:prstGeom prst="rect">
            <a:avLst/>
          </a:prstGeom>
          <a:ln>
            <a:noFill/>
          </a:ln>
        </p:spPr>
      </p:pic>
      <p:pic>
        <p:nvPicPr>
          <p:cNvPr id="210" name="object 8" descr=""/>
          <p:cNvPicPr/>
          <p:nvPr/>
        </p:nvPicPr>
        <p:blipFill>
          <a:blip r:embed="rId4"/>
          <a:stretch/>
        </p:blipFill>
        <p:spPr>
          <a:xfrm>
            <a:off x="2893320" y="2250360"/>
            <a:ext cx="1014120" cy="914040"/>
          </a:xfrm>
          <a:prstGeom prst="rect">
            <a:avLst/>
          </a:prstGeom>
          <a:ln>
            <a:noFill/>
          </a:ln>
        </p:spPr>
      </p:pic>
      <p:sp>
        <p:nvSpPr>
          <p:cNvPr id="211" name="CustomShape 2"/>
          <p:cNvSpPr/>
          <p:nvPr/>
        </p:nvSpPr>
        <p:spPr>
          <a:xfrm>
            <a:off x="261720" y="967320"/>
            <a:ext cx="2368080" cy="1437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read()</a:t>
            </a:r>
            <a:r>
              <a:rPr b="1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lê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todo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conteúdo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aberto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300" spc="-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armazena</a:t>
            </a:r>
            <a:r>
              <a:rPr b="0" lang="pt-BR" sz="13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3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serão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lidos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exatamente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estão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salvos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arquivo,</a:t>
            </a:r>
            <a:r>
              <a:rPr b="0" lang="pt-BR" sz="1300" spc="16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inclusive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quebras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linhas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12" name="CustomShape 3"/>
          <p:cNvSpPr/>
          <p:nvPr/>
        </p:nvSpPr>
        <p:spPr>
          <a:xfrm>
            <a:off x="2927160" y="2035800"/>
            <a:ext cx="40788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13" name="CustomShape 4"/>
          <p:cNvSpPr/>
          <p:nvPr/>
        </p:nvSpPr>
        <p:spPr>
          <a:xfrm>
            <a:off x="2891520" y="1071360"/>
            <a:ext cx="64404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43" dur="indefinite" restart="never" nodeType="tmRoot">
          <p:childTnLst>
            <p:seq>
              <p:cTn id="4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Leitura</a:t>
            </a:r>
            <a:r>
              <a:rPr b="0" lang="pt-BR" sz="2500" spc="-8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em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261720" y="968040"/>
            <a:ext cx="2316240" cy="183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read(N)</a:t>
            </a:r>
            <a:r>
              <a:rPr b="1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lê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apenas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 </a:t>
            </a:r>
            <a:r>
              <a:rPr b="1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</a:t>
            </a:r>
            <a:r>
              <a:rPr b="1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próximos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caracteres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armazena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Como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read()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,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serão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lidos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exatamente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como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estão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salvos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arquivo,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inclusive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quebras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linhas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2927160" y="2036520"/>
            <a:ext cx="40788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17" name="CustomShape 4"/>
          <p:cNvSpPr/>
          <p:nvPr/>
        </p:nvSpPr>
        <p:spPr>
          <a:xfrm>
            <a:off x="2891520" y="1072080"/>
            <a:ext cx="64404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18" name="object 7" descr=""/>
          <p:cNvPicPr/>
          <p:nvPr/>
        </p:nvPicPr>
        <p:blipFill>
          <a:blip r:embed="rId1"/>
          <a:stretch/>
        </p:blipFill>
        <p:spPr>
          <a:xfrm>
            <a:off x="2907360" y="1285920"/>
            <a:ext cx="1592640" cy="514080"/>
          </a:xfrm>
          <a:prstGeom prst="rect">
            <a:avLst/>
          </a:prstGeom>
          <a:ln>
            <a:noFill/>
          </a:ln>
        </p:spPr>
      </p:pic>
      <p:pic>
        <p:nvPicPr>
          <p:cNvPr id="219" name="object 8" descr=""/>
          <p:cNvPicPr/>
          <p:nvPr/>
        </p:nvPicPr>
        <p:blipFill>
          <a:blip r:embed="rId2"/>
          <a:stretch/>
        </p:blipFill>
        <p:spPr>
          <a:xfrm>
            <a:off x="2907360" y="2278800"/>
            <a:ext cx="614160" cy="32832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45" dur="indefinite" restart="never" nodeType="tmRoot">
          <p:childTnLst>
            <p:seq>
              <p:cTn id="4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221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222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Leitura</a:t>
            </a:r>
            <a:r>
              <a:rPr b="0" lang="pt-BR" sz="2500" spc="-8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em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23" name="CustomShape 2"/>
          <p:cNvSpPr/>
          <p:nvPr/>
        </p:nvSpPr>
        <p:spPr>
          <a:xfrm>
            <a:off x="261720" y="967320"/>
            <a:ext cx="2383920" cy="202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readline()</a:t>
            </a:r>
            <a:r>
              <a:rPr b="1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lê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apenas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linha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texto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armazena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Essa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lê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posição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atual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até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encontrar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quebra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linha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76560" indent="-135360">
              <a:lnSpc>
                <a:spcPct val="100000"/>
              </a:lnSpc>
              <a:buClr>
                <a:srgbClr val="0ad0d9"/>
              </a:buClr>
              <a:buSzPct val="95000"/>
              <a:buFont typeface="DejaVu Sans"/>
              <a:buChar char="⚫"/>
            </a:pPr>
            <a:r>
              <a:rPr b="0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quebra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linha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</a:t>
            </a:r>
            <a:r>
              <a:rPr b="1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\n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será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armazenado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2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24" name="CustomShape 3"/>
          <p:cNvSpPr/>
          <p:nvPr/>
        </p:nvSpPr>
        <p:spPr>
          <a:xfrm>
            <a:off x="2927160" y="2035800"/>
            <a:ext cx="40788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25" name="CustomShape 4"/>
          <p:cNvSpPr/>
          <p:nvPr/>
        </p:nvSpPr>
        <p:spPr>
          <a:xfrm>
            <a:off x="2891520" y="1071360"/>
            <a:ext cx="64404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26" name="object 10" descr=""/>
          <p:cNvPicPr/>
          <p:nvPr/>
        </p:nvPicPr>
        <p:blipFill>
          <a:blip r:embed="rId3"/>
          <a:stretch/>
        </p:blipFill>
        <p:spPr>
          <a:xfrm>
            <a:off x="2893320" y="1295280"/>
            <a:ext cx="1592640" cy="492480"/>
          </a:xfrm>
          <a:prstGeom prst="rect">
            <a:avLst/>
          </a:prstGeom>
          <a:ln>
            <a:noFill/>
          </a:ln>
        </p:spPr>
      </p:pic>
      <p:pic>
        <p:nvPicPr>
          <p:cNvPr id="227" name="object 11" descr=""/>
          <p:cNvPicPr/>
          <p:nvPr/>
        </p:nvPicPr>
        <p:blipFill>
          <a:blip r:embed="rId4"/>
          <a:stretch/>
        </p:blipFill>
        <p:spPr>
          <a:xfrm>
            <a:off x="2893320" y="2250360"/>
            <a:ext cx="1014120" cy="44244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47" dur="indefinite" restart="never" nodeType="tmRoot">
          <p:childTnLst>
            <p:seq>
              <p:cTn id="4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Leitura</a:t>
            </a:r>
            <a:r>
              <a:rPr b="0" lang="pt-BR" sz="2500" spc="-8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em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29" name="CustomShape 2"/>
          <p:cNvSpPr/>
          <p:nvPr/>
        </p:nvSpPr>
        <p:spPr>
          <a:xfrm>
            <a:off x="53640" y="968040"/>
            <a:ext cx="2634120" cy="1833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35748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readlines()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lê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todo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conteúdo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aberto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armazena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lista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1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5748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caractere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quebra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linha 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</a:t>
            </a:r>
            <a:r>
              <a:rPr b="1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\n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separa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</a:t>
            </a:r>
            <a:r>
              <a:rPr b="1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outra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será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armazenado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string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ts val="504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30" name="CustomShape 3"/>
          <p:cNvSpPr/>
          <p:nvPr/>
        </p:nvSpPr>
        <p:spPr>
          <a:xfrm>
            <a:off x="2891520" y="1072080"/>
            <a:ext cx="64404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31" name="object 6" descr=""/>
          <p:cNvPicPr/>
          <p:nvPr/>
        </p:nvPicPr>
        <p:blipFill>
          <a:blip r:embed="rId1"/>
          <a:stretch/>
        </p:blipFill>
        <p:spPr>
          <a:xfrm>
            <a:off x="2893320" y="1297800"/>
            <a:ext cx="1599840" cy="528120"/>
          </a:xfrm>
          <a:prstGeom prst="rect">
            <a:avLst/>
          </a:prstGeom>
          <a:ln>
            <a:noFill/>
          </a:ln>
        </p:spPr>
      </p:pic>
      <p:pic>
        <p:nvPicPr>
          <p:cNvPr id="232" name="object 7" descr=""/>
          <p:cNvPicPr/>
          <p:nvPr/>
        </p:nvPicPr>
        <p:blipFill>
          <a:blip r:embed="rId2"/>
          <a:stretch/>
        </p:blipFill>
        <p:spPr>
          <a:xfrm>
            <a:off x="35640" y="2786040"/>
            <a:ext cx="4464360" cy="45720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49" dur="indefinite" restart="never" nodeType="tmRoot">
          <p:childTnLst>
            <p:seq>
              <p:cTn id="5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234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235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Lendo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um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até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final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36" name="CustomShape 2"/>
          <p:cNvSpPr/>
          <p:nvPr/>
        </p:nvSpPr>
        <p:spPr>
          <a:xfrm>
            <a:off x="261720" y="967320"/>
            <a:ext cx="3990600" cy="1871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Diferente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outras</a:t>
            </a:r>
            <a:r>
              <a:rPr b="0" lang="pt-BR" sz="1300" spc="13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linguagens,</a:t>
            </a:r>
            <a:r>
              <a:rPr b="0" lang="pt-BR" sz="1300" spc="17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Python</a:t>
            </a:r>
            <a:r>
              <a:rPr b="0" lang="pt-BR" sz="130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não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possui</a:t>
            </a:r>
            <a:r>
              <a:rPr b="0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teste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fim</a:t>
            </a:r>
            <a:r>
              <a:rPr b="1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1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1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</a:t>
            </a:r>
            <a:r>
              <a:rPr b="1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EOF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,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i="1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end</a:t>
            </a:r>
            <a:r>
              <a:rPr b="0" i="1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i="1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of</a:t>
            </a:r>
            <a:r>
              <a:rPr b="0" i="1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i="1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file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Python,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 indicação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final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dá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pela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ausência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bytes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retornada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leitura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 algn="just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Assim,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melhor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maneira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verificar se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chegamos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final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testar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algo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foi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retornado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pela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leitura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51" dur="indefinite" restart="never" nodeType="tmRoot">
          <p:childTnLst>
            <p:seq>
              <p:cTn id="5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Shape 1"/>
          <p:cNvSpPr txBox="1"/>
          <p:nvPr/>
        </p:nvSpPr>
        <p:spPr>
          <a:xfrm>
            <a:off x="216000" y="510840"/>
            <a:ext cx="370728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Lendo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um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arquivo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até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final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38" name="CustomShape 2"/>
          <p:cNvSpPr/>
          <p:nvPr/>
        </p:nvSpPr>
        <p:spPr>
          <a:xfrm>
            <a:off x="261720" y="968040"/>
            <a:ext cx="2402640" cy="606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teste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final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30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facilmente</a:t>
            </a:r>
            <a:r>
              <a:rPr b="0" lang="pt-BR" sz="1300" spc="180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implementado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construção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tipo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39" name="object 5" descr=""/>
          <p:cNvPicPr/>
          <p:nvPr/>
        </p:nvPicPr>
        <p:blipFill>
          <a:blip r:embed="rId1"/>
          <a:stretch/>
        </p:blipFill>
        <p:spPr>
          <a:xfrm>
            <a:off x="2957400" y="1092960"/>
            <a:ext cx="1578240" cy="942480"/>
          </a:xfrm>
          <a:prstGeom prst="rect">
            <a:avLst/>
          </a:prstGeom>
          <a:ln>
            <a:noFill/>
          </a:ln>
        </p:spPr>
      </p:pic>
      <p:pic>
        <p:nvPicPr>
          <p:cNvPr id="240" name="object 6" descr=""/>
          <p:cNvPicPr/>
          <p:nvPr/>
        </p:nvPicPr>
        <p:blipFill>
          <a:blip r:embed="rId2"/>
          <a:stretch/>
        </p:blipFill>
        <p:spPr>
          <a:xfrm>
            <a:off x="2957400" y="2250360"/>
            <a:ext cx="1221120" cy="1107000"/>
          </a:xfrm>
          <a:prstGeom prst="rect">
            <a:avLst/>
          </a:prstGeom>
          <a:ln>
            <a:noFill/>
          </a:ln>
        </p:spPr>
      </p:pic>
      <p:sp>
        <p:nvSpPr>
          <p:cNvPr id="241" name="CustomShape 3"/>
          <p:cNvSpPr/>
          <p:nvPr/>
        </p:nvSpPr>
        <p:spPr>
          <a:xfrm>
            <a:off x="261720" y="1821240"/>
            <a:ext cx="3108600" cy="1280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9880" bIns="0"/>
          <a:p>
            <a:pPr marL="712440">
              <a:lnSpc>
                <a:spcPct val="100000"/>
              </a:lnSpc>
            </a:pPr>
            <a:r>
              <a:rPr b="1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while</a:t>
            </a:r>
            <a:r>
              <a:rPr b="1" lang="pt-BR" sz="1200" spc="-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True</a:t>
            </a:r>
            <a:r>
              <a:rPr b="1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1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/</a:t>
            </a:r>
            <a:r>
              <a:rPr b="1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break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71332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Basicamente,</a:t>
            </a:r>
            <a:r>
              <a:rPr b="0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criamos</a:t>
            </a:r>
            <a:r>
              <a:rPr b="0" lang="pt-BR" sz="130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16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laço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infinito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</a:t>
            </a:r>
            <a:r>
              <a:rPr b="1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while</a:t>
            </a:r>
            <a:r>
              <a:rPr b="1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True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sempre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leitura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retorna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nada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interrompemos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laço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</a:t>
            </a:r>
            <a:r>
              <a:rPr b="1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break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2" name="CustomShape 4"/>
          <p:cNvSpPr/>
          <p:nvPr/>
        </p:nvSpPr>
        <p:spPr>
          <a:xfrm>
            <a:off x="2927160" y="857880"/>
            <a:ext cx="64404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53" dur="indefinite" restart="never" nodeType="tmRoot">
          <p:childTnLst>
            <p:seq>
              <p:cTn id="5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Shape 1"/>
          <p:cNvSpPr txBox="1"/>
          <p:nvPr/>
        </p:nvSpPr>
        <p:spPr>
          <a:xfrm>
            <a:off x="216000" y="518400"/>
            <a:ext cx="40262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Material</a:t>
            </a:r>
            <a:r>
              <a:rPr b="0" lang="pt-BR" sz="2500" spc="-13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Complementar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44" name="CustomShape 2"/>
          <p:cNvSpPr/>
          <p:nvPr/>
        </p:nvSpPr>
        <p:spPr>
          <a:xfrm>
            <a:off x="261720" y="926280"/>
            <a:ext cx="2977920" cy="1569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Vídeo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Aulas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Aula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34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-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Arquivos: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1"/>
              </a:rPr>
              <a:t>https://youtu.be/1ZFe-</a:t>
            </a:r>
            <a:r>
              <a:rPr b="0" lang="pt-BR" sz="1200" spc="-9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2"/>
              </a:rPr>
              <a:t>OqMB28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Aula </a:t>
            </a:r>
            <a:r>
              <a:rPr b="0" lang="pt-BR" sz="1200" spc="-43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35</a:t>
            </a:r>
            <a:r>
              <a:rPr b="0" lang="pt-BR" sz="1200" spc="9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-</a:t>
            </a:r>
            <a:r>
              <a:rPr b="0" lang="pt-BR" sz="1200" spc="18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Arquivos:</a:t>
            </a:r>
            <a:r>
              <a:rPr b="0" lang="pt-BR" sz="1200" spc="4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abrindo</a:t>
            </a:r>
            <a:r>
              <a:rPr b="0" lang="pt-BR" sz="1200" spc="-18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e</a:t>
            </a:r>
            <a:r>
              <a:rPr b="0" lang="pt-BR" sz="1200" spc="-9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fechando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32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3"/>
              </a:rPr>
              <a:t>https://youtu.be/vtc5P6V_8t8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Aula</a:t>
            </a:r>
            <a:r>
              <a:rPr b="0" lang="pt-BR" sz="1200" spc="32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36</a:t>
            </a:r>
            <a:r>
              <a:rPr b="0" lang="pt-BR" sz="1200" spc="69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-</a:t>
            </a:r>
            <a:r>
              <a:rPr b="0" lang="pt-BR" sz="1200" spc="32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Arquivos:</a:t>
            </a:r>
            <a:r>
              <a:rPr b="0" lang="pt-BR" sz="1200" spc="77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leitura</a:t>
            </a:r>
            <a:r>
              <a:rPr b="0" lang="pt-BR" sz="1200" spc="4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e</a:t>
            </a:r>
            <a:r>
              <a:rPr b="0" lang="pt-BR" sz="1200" spc="-4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escrita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4"/>
              </a:rPr>
              <a:t>https://youtu.be/VscBZSm4K10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55" dur="indefinite" restart="never" nodeType="tmRoot">
          <p:childTnLst>
            <p:seq>
              <p:cTn id="5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LibreOffice/5.1.2.2$Windows_x86 LibreOffice_project/d3bf12ecb743fc0d20e0be0c58ca359301eb705f</Application>
  <Words>1347</Words>
  <Paragraphs>224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2024-02-22T17:47:25Z</dcterms:created>
  <dc:creator>Backes</dc:creator>
  <dc:description/>
  <dc:language>pt-BR</dc:language>
  <cp:lastModifiedBy/>
  <dcterms:modified xsi:type="dcterms:W3CDTF">2025-11-28T08:49:44Z</dcterms:modified>
  <cp:revision>3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reated">
    <vt:filetime>2022-05-30T00:00:00Z</vt:filetime>
  </property>
  <property fmtid="{D5CDD505-2E9C-101B-9397-08002B2CF9AE}" pid="4" name="Creator">
    <vt:lpwstr>Microsoft® PowerPoint® 2010</vt:lpwstr>
  </property>
  <property fmtid="{D5CDD505-2E9C-101B-9397-08002B2CF9AE}" pid="5" name="HiddenSlides">
    <vt:i4>0</vt:i4>
  </property>
  <property fmtid="{D5CDD505-2E9C-101B-9397-08002B2CF9AE}" pid="6" name="HyperlinksChanged">
    <vt:bool>0</vt:bool>
  </property>
  <property fmtid="{D5CDD505-2E9C-101B-9397-08002B2CF9AE}" pid="7" name="LastSaved">
    <vt:filetime>2024-02-22T00:00:00Z</vt:filetime>
  </property>
  <property fmtid="{D5CDD505-2E9C-101B-9397-08002B2CF9AE}" pid="8" name="LinksUpToDate">
    <vt:bool>0</vt:bool>
  </property>
  <property fmtid="{D5CDD505-2E9C-101B-9397-08002B2CF9AE}" pid="9" name="MMClips">
    <vt:i4>0</vt:i4>
  </property>
  <property fmtid="{D5CDD505-2E9C-101B-9397-08002B2CF9AE}" pid="10" name="Notes">
    <vt:i4>0</vt:i4>
  </property>
  <property fmtid="{D5CDD505-2E9C-101B-9397-08002B2CF9AE}" pid="11" name="PresentationFormat">
    <vt:lpwstr>Custom</vt:lpwstr>
  </property>
  <property fmtid="{D5CDD505-2E9C-101B-9397-08002B2CF9AE}" pid="12" name="Producer">
    <vt:lpwstr>3-Heights(TM) PDF Security Shell 4.8.25.2 (http://www.pdf-tools.com)</vt:lpwstr>
  </property>
  <property fmtid="{D5CDD505-2E9C-101B-9397-08002B2CF9AE}" pid="13" name="ScaleCrop">
    <vt:bool>0</vt:bool>
  </property>
  <property fmtid="{D5CDD505-2E9C-101B-9397-08002B2CF9AE}" pid="14" name="ShareDoc">
    <vt:bool>0</vt:bool>
  </property>
  <property fmtid="{D5CDD505-2E9C-101B-9397-08002B2CF9AE}" pid="15" name="Slides">
    <vt:i4>38</vt:i4>
  </property>
</Properties>
</file>