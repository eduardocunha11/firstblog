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14" r:id="rId42"/>
  </p:sldIdLst>
  <p:sldSz cx="4572000" cy="3435350"/>
  <p:notesSz cx="4572000" cy="3435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8" d="100"/>
          <a:sy n="158" d="100"/>
        </p:scale>
        <p:origin x="1560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2900" y="1062990"/>
            <a:ext cx="3886200" cy="720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4607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5800" y="1920240"/>
            <a:ext cx="3200400" cy="857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3429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30" y="0"/>
            <a:ext cx="4572711" cy="5102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4607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4607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28600" y="788670"/>
            <a:ext cx="1988820" cy="2263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54580" y="788670"/>
            <a:ext cx="1988820" cy="2263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3429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30" y="0"/>
            <a:ext cx="4572711" cy="5102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4607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572000" cy="3429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30" y="0"/>
            <a:ext cx="4572711" cy="5102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4572000" cy="3429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154" y="129921"/>
            <a:ext cx="3981450" cy="7895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4607A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1874" y="926314"/>
            <a:ext cx="3949065" cy="173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54480" y="3188970"/>
            <a:ext cx="146304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28600" y="3188970"/>
            <a:ext cx="105156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291840" y="3188970"/>
            <a:ext cx="105156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sdtkjISZIE" TargetMode="External"/><Relationship Id="rId2" Type="http://schemas.openxmlformats.org/officeDocument/2006/relationships/hyperlink" Target="https://youtu.be/Y05YeBAFC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eJHpe_-izj4" TargetMode="External"/><Relationship Id="rId4" Type="http://schemas.openxmlformats.org/officeDocument/2006/relationships/hyperlink" Target="https://youtu.be/ZMkN0BXd-3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" y="797051"/>
              <a:ext cx="1359408" cy="784859"/>
            </a:xfrm>
            <a:prstGeom prst="rect">
              <a:avLst/>
            </a:prstGeom>
          </p:spPr>
        </p:pic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18D599B0-B679-4128-ACAE-B2C4944E8495}"/>
              </a:ext>
            </a:extLst>
          </p:cNvPr>
          <p:cNvSpPr txBox="1"/>
          <p:nvPr/>
        </p:nvSpPr>
        <p:spPr>
          <a:xfrm>
            <a:off x="304800" y="1946275"/>
            <a:ext cx="403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Prof. Eduardo Campos (CEFET-MG)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Por</a:t>
            </a:r>
            <a:r>
              <a:rPr spc="-50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dirty="0"/>
              <a:t>usar</a:t>
            </a:r>
            <a:r>
              <a:rPr spc="-55" dirty="0"/>
              <a:t> </a:t>
            </a:r>
            <a:r>
              <a:rPr spc="-10" dirty="0"/>
              <a:t>listas?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97129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472440" indent="-139700" algn="just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-35" dirty="0">
                <a:latin typeface="Times New Roman"/>
                <a:cs typeface="Times New Roman"/>
              </a:rPr>
              <a:t>As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variáveis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declaradas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até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agora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são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capazes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de </a:t>
            </a:r>
            <a:r>
              <a:rPr sz="1300" spc="55" dirty="0">
                <a:latin typeface="Times New Roman"/>
                <a:cs typeface="Times New Roman"/>
              </a:rPr>
              <a:t>armazenar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único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valor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por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vez.</a:t>
            </a:r>
            <a:endParaRPr sz="1300">
              <a:latin typeface="Times New Roman"/>
              <a:cs typeface="Times New Roman"/>
            </a:endParaRPr>
          </a:p>
          <a:p>
            <a:pPr marL="330200" marR="5080" lvl="1" indent="-121920" algn="just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Sempre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tentamos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armazenar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novo valor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dentro 	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variável,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antigo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sobrescrito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portanto, 	</a:t>
            </a:r>
            <a:r>
              <a:rPr sz="1200" spc="35" dirty="0">
                <a:latin typeface="Times New Roman"/>
                <a:cs typeface="Times New Roman"/>
              </a:rPr>
              <a:t>perdido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2112162"/>
            <a:ext cx="707224" cy="935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6154" y="510921"/>
            <a:ext cx="7296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Listas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27887"/>
            <a:ext cx="4013835" cy="15716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09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70" dirty="0">
                <a:latin typeface="Times New Roman"/>
                <a:cs typeface="Times New Roman"/>
              </a:rPr>
              <a:t>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é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forma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mais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familiar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dados</a:t>
            </a:r>
            <a:r>
              <a:rPr sz="1300" spc="40" dirty="0">
                <a:latin typeface="Times New Roman"/>
                <a:cs typeface="Times New Roman"/>
              </a:rPr>
              <a:t> estruturados</a:t>
            </a:r>
            <a:endParaRPr sz="1300">
              <a:latin typeface="Times New Roman"/>
              <a:cs typeface="Times New Roman"/>
            </a:endParaRPr>
          </a:p>
          <a:p>
            <a:pPr marL="149225" marR="5080" indent="-139700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Basicamente,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lista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é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sequência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elementos, </a:t>
            </a:r>
            <a:r>
              <a:rPr sz="1300" spc="65" dirty="0">
                <a:latin typeface="Times New Roman"/>
                <a:cs typeface="Times New Roman"/>
              </a:rPr>
              <a:t>onde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cada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elemento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é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identificado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por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índice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0AD0D9"/>
              </a:buClr>
              <a:buFont typeface="DejaVu Sans"/>
              <a:buChar char="⚫"/>
            </a:pPr>
            <a:endParaRPr sz="1300">
              <a:latin typeface="Times New Roman"/>
              <a:cs typeface="Times New Roman"/>
            </a:endParaRPr>
          </a:p>
          <a:p>
            <a:pPr marL="149225" marR="76200" indent="-139700">
              <a:lnSpc>
                <a:spcPct val="100000"/>
              </a:lnSpc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Diferente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dos</a:t>
            </a:r>
            <a:r>
              <a:rPr sz="1300" spc="11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arrays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usados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em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outras</a:t>
            </a:r>
            <a:r>
              <a:rPr sz="1300" spc="17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linguagens,</a:t>
            </a:r>
            <a:r>
              <a:rPr sz="1300" spc="135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em </a:t>
            </a:r>
            <a:r>
              <a:rPr sz="1300" spc="55" dirty="0">
                <a:latin typeface="Times New Roman"/>
                <a:cs typeface="Times New Roman"/>
              </a:rPr>
              <a:t>Python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elementos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podem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possuir </a:t>
            </a:r>
            <a:r>
              <a:rPr sz="1300" spc="50" dirty="0">
                <a:latin typeface="Times New Roman"/>
                <a:cs typeface="Times New Roman"/>
              </a:rPr>
              <a:t>qualquer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tipo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25678"/>
            <a:ext cx="3971290" cy="1506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Imagine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o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seguinte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problema</a:t>
            </a:r>
            <a:endParaRPr sz="1300">
              <a:latin typeface="Times New Roman"/>
              <a:cs typeface="Times New Roman"/>
            </a:endParaRPr>
          </a:p>
          <a:p>
            <a:pPr marL="330200" marR="508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leia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notas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turma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cinco </a:t>
            </a:r>
            <a:r>
              <a:rPr sz="1200" spc="50" dirty="0">
                <a:latin typeface="Times New Roman"/>
                <a:cs typeface="Times New Roman"/>
              </a:rPr>
              <a:t>estudantes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depois 	</a:t>
            </a:r>
            <a:r>
              <a:rPr sz="1200" spc="45" dirty="0">
                <a:latin typeface="Times New Roman"/>
                <a:cs typeface="Times New Roman"/>
              </a:rPr>
              <a:t>imprima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notas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são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maiores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do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média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da 	</a:t>
            </a:r>
            <a:r>
              <a:rPr sz="1200" spc="45" dirty="0">
                <a:latin typeface="Times New Roman"/>
                <a:cs typeface="Times New Roman"/>
              </a:rPr>
              <a:t>turma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45"/>
              </a:spcBef>
              <a:buClr>
                <a:srgbClr val="0E6EC5"/>
              </a:buClr>
              <a:buFont typeface="DejaVu Sans"/>
              <a:buChar char="⚫"/>
            </a:pPr>
            <a:endParaRPr sz="1200">
              <a:latin typeface="Times New Roman"/>
              <a:cs typeface="Times New Roman"/>
            </a:endParaRPr>
          </a:p>
          <a:p>
            <a:pPr marL="149225" marR="491490" indent="-139700">
              <a:lnSpc>
                <a:spcPct val="100000"/>
              </a:lnSpc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Um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algoritmo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para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esse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problema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poderia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ser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o </a:t>
            </a:r>
            <a:r>
              <a:rPr sz="1300" spc="50" dirty="0">
                <a:latin typeface="Times New Roman"/>
                <a:cs typeface="Times New Roman"/>
              </a:rPr>
              <a:t>mostrado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seguir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Solução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" y="1142999"/>
            <a:ext cx="2136013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154" y="510285"/>
            <a:ext cx="7296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Listas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874770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0" dirty="0">
                <a:latin typeface="Times New Roman"/>
                <a:cs typeface="Times New Roman"/>
              </a:rPr>
              <a:t>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algoritmo</a:t>
            </a:r>
            <a:r>
              <a:rPr sz="1300" spc="45" dirty="0">
                <a:latin typeface="Times New Roman"/>
                <a:cs typeface="Times New Roman"/>
              </a:rPr>
              <a:t> anterior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apresenta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solução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possível </a:t>
            </a:r>
            <a:r>
              <a:rPr sz="1300" dirty="0">
                <a:latin typeface="Times New Roman"/>
                <a:cs typeface="Times New Roman"/>
              </a:rPr>
              <a:t>para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problema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apresentado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  <a:buClr>
                <a:srgbClr val="0AD0D9"/>
              </a:buClr>
              <a:buFont typeface="DejaVu Sans"/>
              <a:buChar char="⚫"/>
            </a:pPr>
            <a:endParaRPr sz="13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Porém,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essa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solução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é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inviável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para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grandes</a:t>
            </a:r>
            <a:endParaRPr sz="130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</a:pPr>
            <a:r>
              <a:rPr sz="1300" spc="55" dirty="0">
                <a:latin typeface="Times New Roman"/>
                <a:cs typeface="Times New Roman"/>
              </a:rPr>
              <a:t>quantidades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alunos</a:t>
            </a:r>
            <a:endParaRPr sz="1300">
              <a:latin typeface="Times New Roman"/>
              <a:cs typeface="Times New Roman"/>
            </a:endParaRPr>
          </a:p>
          <a:p>
            <a:pPr marL="330200" marR="20955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10" dirty="0">
                <a:latin typeface="Times New Roman"/>
                <a:cs typeface="Times New Roman"/>
              </a:rPr>
              <a:t>Imagine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tivéssemos</a:t>
            </a:r>
            <a:r>
              <a:rPr sz="1200" spc="55" dirty="0">
                <a:latin typeface="Times New Roman"/>
                <a:cs typeface="Times New Roman"/>
              </a:rPr>
              <a:t> de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processar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dados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100 	</a:t>
            </a:r>
            <a:r>
              <a:rPr sz="1200" spc="-10" dirty="0">
                <a:latin typeface="Times New Roman"/>
                <a:cs typeface="Times New Roman"/>
              </a:rPr>
              <a:t>alunos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6154" y="510921"/>
            <a:ext cx="7296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Listas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dirty="0"/>
              <a:t>Para</a:t>
            </a:r>
            <a:r>
              <a:rPr spc="170" dirty="0"/>
              <a:t> </a:t>
            </a:r>
            <a:r>
              <a:rPr spc="-60" dirty="0"/>
              <a:t>100</a:t>
            </a:r>
            <a:r>
              <a:rPr spc="165" dirty="0"/>
              <a:t> </a:t>
            </a:r>
            <a:r>
              <a:rPr dirty="0"/>
              <a:t>alunos,</a:t>
            </a:r>
            <a:r>
              <a:rPr spc="200" dirty="0"/>
              <a:t> </a:t>
            </a:r>
            <a:r>
              <a:rPr dirty="0"/>
              <a:t>precisamos</a:t>
            </a:r>
            <a:r>
              <a:rPr spc="130" dirty="0"/>
              <a:t> </a:t>
            </a:r>
            <a:r>
              <a:rPr spc="-25" dirty="0"/>
              <a:t>de:</a:t>
            </a:r>
          </a:p>
          <a:p>
            <a:pPr marL="330200" marR="5334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Uma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variável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armazenar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nota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cada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aluno: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100 	</a:t>
            </a:r>
            <a:r>
              <a:rPr sz="1200" spc="-10" dirty="0">
                <a:latin typeface="Times New Roman"/>
                <a:cs typeface="Times New Roman"/>
              </a:rPr>
              <a:t>variáveis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Um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comando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leitura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cada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nota: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100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input()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Um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somatório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100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notas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Um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comando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teste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cada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aluno: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55" dirty="0">
                <a:latin typeface="Times New Roman"/>
                <a:cs typeface="Times New Roman"/>
              </a:rPr>
              <a:t>100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comandos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if</a:t>
            </a:r>
            <a:endParaRPr sz="1200">
              <a:latin typeface="Times New Roman"/>
              <a:cs typeface="Times New Roman"/>
            </a:endParaRPr>
          </a:p>
          <a:p>
            <a:pPr marL="330200" marR="12700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10" dirty="0">
                <a:latin typeface="Times New Roman"/>
                <a:cs typeface="Times New Roman"/>
              </a:rPr>
              <a:t>Um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comando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impressão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na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tela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para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cada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aluno: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100 	</a:t>
            </a:r>
            <a:r>
              <a:rPr sz="1200" spc="40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Definição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97718" y="2709830"/>
          <a:ext cx="29718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61874" y="925678"/>
            <a:ext cx="3808095" cy="17665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25" dirty="0">
                <a:latin typeface="Times New Roman"/>
                <a:cs typeface="Times New Roman"/>
              </a:rPr>
              <a:t>As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variáveis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têm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relação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entre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si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todas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armazenam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notas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alunos</a:t>
            </a:r>
            <a:endParaRPr sz="1200">
              <a:latin typeface="Times New Roman"/>
              <a:cs typeface="Times New Roman"/>
            </a:endParaRPr>
          </a:p>
          <a:p>
            <a:pPr marL="149225" marR="5080" indent="-139700">
              <a:lnSpc>
                <a:spcPct val="100000"/>
              </a:lnSpc>
              <a:spcBef>
                <a:spcPts val="2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declará-las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usando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ÚNICO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nome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para </a:t>
            </a:r>
            <a:r>
              <a:rPr sz="1300" dirty="0">
                <a:latin typeface="Times New Roman"/>
                <a:cs typeface="Times New Roman"/>
              </a:rPr>
              <a:t>todos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os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spc="-60" dirty="0">
                <a:latin typeface="Times New Roman"/>
                <a:cs typeface="Times New Roman"/>
              </a:rPr>
              <a:t>100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alunos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50" dirty="0">
                <a:latin typeface="Times New Roman"/>
                <a:cs typeface="Times New Roman"/>
              </a:rPr>
              <a:t>notas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conjunto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Times New Roman"/>
                <a:cs typeface="Times New Roman"/>
              </a:rPr>
              <a:t>100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números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acessados </a:t>
            </a:r>
            <a:r>
              <a:rPr sz="1200" spc="55" dirty="0">
                <a:latin typeface="Times New Roman"/>
                <a:cs typeface="Times New Roman"/>
              </a:rPr>
              <a:t>por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um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índice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260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b="1" spc="70" dirty="0">
                <a:latin typeface="Times New Roman"/>
                <a:cs typeface="Times New Roman"/>
              </a:rPr>
              <a:t>isso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spc="100" dirty="0">
                <a:latin typeface="Times New Roman"/>
                <a:cs typeface="Times New Roman"/>
              </a:rPr>
              <a:t>é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spc="65" dirty="0">
                <a:latin typeface="Times New Roman"/>
                <a:cs typeface="Times New Roman"/>
              </a:rPr>
              <a:t>uma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lista!</a:t>
            </a:r>
            <a:endParaRPr sz="1050">
              <a:latin typeface="Times New Roman"/>
              <a:cs typeface="Times New Roman"/>
            </a:endParaRPr>
          </a:p>
          <a:p>
            <a:pPr marL="753745">
              <a:lnSpc>
                <a:spcPct val="100000"/>
              </a:lnSpc>
              <a:spcBef>
                <a:spcPts val="875"/>
              </a:spcBef>
              <a:tabLst>
                <a:tab pos="1249045" algn="l"/>
                <a:tab pos="1729105" algn="l"/>
                <a:tab pos="3198495" algn="l"/>
              </a:tabLst>
            </a:pPr>
            <a:r>
              <a:rPr sz="900" b="1" spc="-50" dirty="0">
                <a:latin typeface="Arial"/>
                <a:cs typeface="Arial"/>
              </a:rPr>
              <a:t>0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50" dirty="0">
                <a:latin typeface="Arial"/>
                <a:cs typeface="Arial"/>
              </a:rPr>
              <a:t>1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...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99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3876" y="3024885"/>
            <a:ext cx="3314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Arial"/>
                <a:cs typeface="Arial"/>
              </a:rPr>
              <a:t>notas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declaração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26314"/>
            <a:ext cx="4026535" cy="14560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20" dirty="0">
                <a:latin typeface="Times New Roman"/>
                <a:cs typeface="Times New Roman"/>
              </a:rPr>
              <a:t>Existem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várias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maneiras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criar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  <a:p>
            <a:pPr marL="330200" marR="28130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10" dirty="0">
                <a:latin typeface="Times New Roman"/>
                <a:cs typeface="Times New Roman"/>
              </a:rPr>
              <a:t>Uma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das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mais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simples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é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definir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lista 	</a:t>
            </a:r>
            <a:r>
              <a:rPr sz="1200" spc="55" dirty="0">
                <a:latin typeface="Times New Roman"/>
                <a:cs typeface="Times New Roman"/>
              </a:rPr>
              <a:t>entre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colchetes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254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spc="20" dirty="0">
                <a:latin typeface="Times New Roman"/>
                <a:cs typeface="Times New Roman"/>
              </a:rPr>
              <a:t>Os</a:t>
            </a:r>
            <a:r>
              <a:rPr sz="1050" spc="5" dirty="0">
                <a:latin typeface="Times New Roman"/>
                <a:cs typeface="Times New Roman"/>
              </a:rPr>
              <a:t> </a:t>
            </a:r>
            <a:r>
              <a:rPr sz="1050" spc="45" dirty="0">
                <a:latin typeface="Times New Roman"/>
                <a:cs typeface="Times New Roman"/>
              </a:rPr>
              <a:t>elementos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da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lista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devem</a:t>
            </a:r>
            <a:r>
              <a:rPr sz="1050" spc="-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ser</a:t>
            </a:r>
            <a:r>
              <a:rPr sz="1050" spc="-1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separados</a:t>
            </a:r>
            <a:r>
              <a:rPr sz="1050" spc="-10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por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-10" dirty="0">
                <a:latin typeface="Times New Roman"/>
                <a:cs typeface="Times New Roman"/>
              </a:rPr>
              <a:t>vírgulas</a:t>
            </a:r>
            <a:endParaRPr sz="105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254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spc="10" dirty="0">
                <a:latin typeface="Times New Roman"/>
                <a:cs typeface="Times New Roman"/>
              </a:rPr>
              <a:t>Se</a:t>
            </a:r>
            <a:r>
              <a:rPr sz="1050" spc="-10" dirty="0">
                <a:latin typeface="Times New Roman"/>
                <a:cs typeface="Times New Roman"/>
              </a:rPr>
              <a:t> </a:t>
            </a:r>
            <a:r>
              <a:rPr sz="1050" spc="75" dirty="0">
                <a:latin typeface="Times New Roman"/>
                <a:cs typeface="Times New Roman"/>
              </a:rPr>
              <a:t>nenhum</a:t>
            </a:r>
            <a:r>
              <a:rPr sz="1050" spc="-25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elemento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10" dirty="0">
                <a:latin typeface="Times New Roman"/>
                <a:cs typeface="Times New Roman"/>
              </a:rPr>
              <a:t>for</a:t>
            </a:r>
            <a:r>
              <a:rPr sz="1050" spc="-4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definido,</a:t>
            </a:r>
            <a:r>
              <a:rPr sz="1050" spc="-20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temos</a:t>
            </a:r>
            <a:r>
              <a:rPr sz="1050" spc="-30" dirty="0">
                <a:latin typeface="Times New Roman"/>
                <a:cs typeface="Times New Roman"/>
              </a:rPr>
              <a:t> </a:t>
            </a:r>
            <a:r>
              <a:rPr sz="1050" spc="65" dirty="0">
                <a:latin typeface="Times New Roman"/>
                <a:cs typeface="Times New Roman"/>
              </a:rPr>
              <a:t>uma</a:t>
            </a:r>
            <a:r>
              <a:rPr sz="1050" spc="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lista</a:t>
            </a:r>
            <a:r>
              <a:rPr sz="1050" spc="-55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vazia</a:t>
            </a:r>
            <a:endParaRPr sz="1050">
              <a:latin typeface="Times New Roman"/>
              <a:cs typeface="Times New Roman"/>
            </a:endParaRPr>
          </a:p>
          <a:p>
            <a:pPr marL="330200" marR="5080" lvl="1" indent="-121920">
              <a:lnSpc>
                <a:spcPct val="100000"/>
              </a:lnSpc>
              <a:spcBef>
                <a:spcPts val="284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Também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podemos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função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1" spc="50" dirty="0">
                <a:latin typeface="Times New Roman"/>
                <a:cs typeface="Times New Roman"/>
              </a:rPr>
              <a:t>range()</a:t>
            </a:r>
            <a:r>
              <a:rPr sz="1200" b="1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gerar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uma 	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valores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8600" y="2374099"/>
            <a:ext cx="3850640" cy="1036319"/>
            <a:chOff x="228600" y="2374099"/>
            <a:chExt cx="3850640" cy="103631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800" y="2666999"/>
              <a:ext cx="1107287" cy="4429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600" y="2374099"/>
              <a:ext cx="2593213" cy="10358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declaração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898265" cy="1426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221615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dirty="0">
                <a:latin typeface="Times New Roman"/>
                <a:cs typeface="Times New Roman"/>
              </a:rPr>
              <a:t>Em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lista,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elementos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são</a:t>
            </a:r>
            <a:r>
              <a:rPr sz="1300" spc="-10" dirty="0">
                <a:latin typeface="Times New Roman"/>
                <a:cs typeface="Times New Roman"/>
              </a:rPr>
              <a:t> acessados </a:t>
            </a:r>
            <a:r>
              <a:rPr sz="1300" spc="20" dirty="0">
                <a:latin typeface="Times New Roman"/>
                <a:cs typeface="Times New Roman"/>
              </a:rPr>
              <a:t>especificando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o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índice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desejado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entre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colchetes.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A </a:t>
            </a:r>
            <a:r>
              <a:rPr sz="1300" spc="55" dirty="0">
                <a:latin typeface="Times New Roman"/>
                <a:cs typeface="Times New Roman"/>
              </a:rPr>
              <a:t>numeração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começa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sempre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do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zero</a:t>
            </a:r>
            <a:endParaRPr sz="1300">
              <a:latin typeface="Times New Roman"/>
              <a:cs typeface="Times New Roman"/>
            </a:endParaRPr>
          </a:p>
          <a:p>
            <a:pPr marL="330200" marR="1841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Isto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significa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45" dirty="0">
                <a:latin typeface="Times New Roman"/>
                <a:cs typeface="Times New Roman"/>
              </a:rPr>
              <a:t> elementos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terá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índices 	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3: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compras[0],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compras[1],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compras[2]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e 	</a:t>
            </a:r>
            <a:r>
              <a:rPr sz="1200" spc="-10" dirty="0">
                <a:latin typeface="Times New Roman"/>
                <a:cs typeface="Times New Roman"/>
              </a:rPr>
              <a:t>compras[3]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70" dirty="0">
                <a:latin typeface="Times New Roman"/>
                <a:cs typeface="Times New Roman"/>
              </a:rPr>
              <a:t>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função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b="1" spc="75" dirty="0">
                <a:latin typeface="Times New Roman"/>
                <a:cs typeface="Times New Roman"/>
              </a:rPr>
              <a:t>len()</a:t>
            </a:r>
            <a:r>
              <a:rPr sz="1200" b="1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retorna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número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2390774"/>
            <a:ext cx="2514600" cy="10287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41854" y="267233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7154" y="267233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2453" y="267233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436018" y="2852705"/>
          <a:ext cx="19812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Miojo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Ovo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Leite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Pão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128008" y="2672333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96589" y="3243833"/>
            <a:ext cx="5035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Arial"/>
                <a:cs typeface="Arial"/>
              </a:rPr>
              <a:t>compras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75" dirty="0"/>
              <a:t> </a:t>
            </a:r>
            <a:r>
              <a:rPr dirty="0"/>
              <a:t>=</a:t>
            </a:r>
            <a:r>
              <a:rPr spc="-65" dirty="0"/>
              <a:t> </a:t>
            </a:r>
            <a:r>
              <a:rPr spc="-10" dirty="0"/>
              <a:t>variável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3926840" cy="1534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20" dirty="0">
                <a:latin typeface="Times New Roman"/>
                <a:cs typeface="Times New Roman"/>
              </a:rPr>
              <a:t>Cada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elemento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lista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tem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todas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as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características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de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variável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pode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aparecer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em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expressões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e </a:t>
            </a:r>
            <a:r>
              <a:rPr sz="1300" spc="20" dirty="0">
                <a:latin typeface="Times New Roman"/>
                <a:cs typeface="Times New Roman"/>
              </a:rPr>
              <a:t>atribuições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(respeitando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os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seus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tipos)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notas[2]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notas[3]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notas[3]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&gt;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60: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85"/>
              </a:spcBef>
              <a:buClr>
                <a:srgbClr val="0E6EC5"/>
              </a:buClr>
              <a:buFont typeface="DejaVu Sans"/>
              <a:buChar char="⚫"/>
            </a:pPr>
            <a:endParaRPr sz="12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40" dirty="0">
                <a:latin typeface="Times New Roman"/>
                <a:cs typeface="Times New Roman"/>
              </a:rPr>
              <a:t>Ex: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somar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todos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elementos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2540799"/>
            <a:ext cx="1407287" cy="7357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Percorrendo</a:t>
            </a:r>
            <a:r>
              <a:rPr spc="-55" dirty="0"/>
              <a:t> </a:t>
            </a:r>
            <a:r>
              <a:rPr dirty="0"/>
              <a:t>uma</a:t>
            </a:r>
            <a:r>
              <a:rPr spc="-40" dirty="0"/>
              <a:t> </a:t>
            </a:r>
            <a:r>
              <a:rPr spc="-20" dirty="0"/>
              <a:t>lista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09725" y="2150274"/>
            <a:ext cx="2314575" cy="1240790"/>
            <a:chOff x="1609725" y="2150274"/>
            <a:chExt cx="2314575" cy="12407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9725" y="2150274"/>
              <a:ext cx="2314575" cy="5357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9725" y="2683674"/>
              <a:ext cx="600075" cy="7072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1874" y="967485"/>
            <a:ext cx="3759200" cy="190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usar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comando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repetição </a:t>
            </a:r>
            <a:r>
              <a:rPr sz="1300" spc="30" dirty="0">
                <a:latin typeface="Times New Roman"/>
                <a:cs typeface="Times New Roman"/>
              </a:rPr>
              <a:t>(preferencialmente o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for)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para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percorrer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lista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 </a:t>
            </a:r>
            <a:r>
              <a:rPr sz="1300" spc="-10" dirty="0">
                <a:latin typeface="Times New Roman"/>
                <a:cs typeface="Times New Roman"/>
              </a:rPr>
              <a:t>formas</a:t>
            </a:r>
            <a:endParaRPr sz="13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Forma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1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Percorrer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os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índices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elementos</a:t>
            </a:r>
            <a:endParaRPr sz="1200">
              <a:latin typeface="Times New Roman"/>
              <a:cs typeface="Times New Roman"/>
            </a:endParaRPr>
          </a:p>
          <a:p>
            <a:pPr marL="593725">
              <a:lnSpc>
                <a:spcPct val="100000"/>
              </a:lnSpc>
              <a:spcBef>
                <a:spcPts val="1010"/>
              </a:spcBef>
            </a:pPr>
            <a:r>
              <a:rPr sz="1300" spc="-10" dirty="0">
                <a:latin typeface="Times New Roman"/>
                <a:cs typeface="Times New Roman"/>
              </a:rPr>
              <a:t>Exemplo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300">
              <a:latin typeface="Times New Roman"/>
              <a:cs typeface="Times New Roman"/>
            </a:endParaRPr>
          </a:p>
          <a:p>
            <a:pPr marL="593725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Saída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Percorrendo</a:t>
            </a:r>
            <a:r>
              <a:rPr spc="-55" dirty="0"/>
              <a:t> </a:t>
            </a:r>
            <a:r>
              <a:rPr dirty="0"/>
              <a:t>uma</a:t>
            </a:r>
            <a:r>
              <a:rPr spc="-40" dirty="0"/>
              <a:t> </a:t>
            </a:r>
            <a:r>
              <a:rPr spc="-20" dirty="0"/>
              <a:t>lista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547749" y="2200312"/>
            <a:ext cx="2300605" cy="1219200"/>
            <a:chOff x="1547749" y="2200312"/>
            <a:chExt cx="2300605" cy="12192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7749" y="2200312"/>
              <a:ext cx="2300224" cy="4786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7749" y="2719387"/>
              <a:ext cx="471487" cy="7000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61874" y="968120"/>
            <a:ext cx="3759200" cy="193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usar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comando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repetição </a:t>
            </a:r>
            <a:r>
              <a:rPr sz="1300" spc="30" dirty="0">
                <a:latin typeface="Times New Roman"/>
                <a:cs typeface="Times New Roman"/>
              </a:rPr>
              <a:t>(preferencialmente o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for)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para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percorrer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30" dirty="0">
                <a:latin typeface="Times New Roman"/>
                <a:cs typeface="Times New Roman"/>
              </a:rPr>
              <a:t>lista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 </a:t>
            </a:r>
            <a:r>
              <a:rPr sz="1300" spc="-10" dirty="0">
                <a:latin typeface="Times New Roman"/>
                <a:cs typeface="Times New Roman"/>
              </a:rPr>
              <a:t>formas</a:t>
            </a:r>
            <a:endParaRPr sz="13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31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Forma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330200" marR="4127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20" dirty="0">
                <a:latin typeface="Times New Roman"/>
                <a:cs typeface="Times New Roman"/>
              </a:rPr>
              <a:t>Percorrer apenas os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elementos.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Isso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evita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manipular 	</a:t>
            </a:r>
            <a:r>
              <a:rPr sz="1200" spc="20" dirty="0">
                <a:latin typeface="Times New Roman"/>
                <a:cs typeface="Times New Roman"/>
              </a:rPr>
              <a:t>explicitamente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índice</a:t>
            </a:r>
            <a:endParaRPr sz="1200">
              <a:latin typeface="Times New Roman"/>
              <a:cs typeface="Times New Roman"/>
            </a:endParaRPr>
          </a:p>
          <a:p>
            <a:pPr marL="546100">
              <a:lnSpc>
                <a:spcPts val="1360"/>
              </a:lnSpc>
            </a:pPr>
            <a:r>
              <a:rPr sz="1300" spc="-10" dirty="0">
                <a:latin typeface="Times New Roman"/>
                <a:cs typeface="Times New Roman"/>
              </a:rPr>
              <a:t>Exemplo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300">
              <a:latin typeface="Times New Roman"/>
              <a:cs typeface="Times New Roman"/>
            </a:endParaRPr>
          </a:p>
          <a:p>
            <a:pPr marL="546100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Saída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dirty="0"/>
              <a:t>Voltando</a:t>
            </a:r>
            <a:r>
              <a:rPr spc="60" dirty="0"/>
              <a:t> </a:t>
            </a:r>
            <a:r>
              <a:rPr dirty="0"/>
              <a:t>ao</a:t>
            </a:r>
            <a:r>
              <a:rPr spc="75" dirty="0"/>
              <a:t> </a:t>
            </a:r>
            <a:r>
              <a:rPr spc="45" dirty="0"/>
              <a:t>problema</a:t>
            </a:r>
            <a:r>
              <a:rPr spc="80" dirty="0"/>
              <a:t> </a:t>
            </a:r>
            <a:r>
              <a:rPr spc="35" dirty="0"/>
              <a:t>anterior</a:t>
            </a:r>
          </a:p>
          <a:p>
            <a:pPr marL="330200" marR="508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leia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notas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turma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cinco </a:t>
            </a:r>
            <a:r>
              <a:rPr sz="1200" spc="50" dirty="0">
                <a:latin typeface="Times New Roman"/>
                <a:cs typeface="Times New Roman"/>
              </a:rPr>
              <a:t>estudantes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depois 	</a:t>
            </a:r>
            <a:r>
              <a:rPr sz="1200" spc="45" dirty="0">
                <a:latin typeface="Times New Roman"/>
                <a:cs typeface="Times New Roman"/>
              </a:rPr>
              <a:t>imprima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notas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são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maiores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do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média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da 	</a:t>
            </a:r>
            <a:r>
              <a:rPr sz="1200" spc="45" dirty="0">
                <a:latin typeface="Times New Roman"/>
                <a:cs typeface="Times New Roman"/>
              </a:rPr>
              <a:t>turma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Solução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35382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Um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algoritmo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para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esse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problema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usando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listas: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1100" y="1276349"/>
            <a:ext cx="2157349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Listas</a:t>
            </a:r>
            <a:r>
              <a:rPr spc="-60" dirty="0"/>
              <a:t> </a:t>
            </a:r>
            <a:r>
              <a:rPr dirty="0"/>
              <a:t>-</a:t>
            </a:r>
            <a:r>
              <a:rPr spc="-80" dirty="0"/>
              <a:t> </a:t>
            </a:r>
            <a:r>
              <a:rPr spc="-10" dirty="0"/>
              <a:t>Solução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27133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10" dirty="0">
                <a:latin typeface="Times New Roman"/>
                <a:cs typeface="Times New Roman"/>
              </a:rPr>
              <a:t>Se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ao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invés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5,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fossem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-60" dirty="0">
                <a:latin typeface="Times New Roman"/>
                <a:cs typeface="Times New Roman"/>
              </a:rPr>
              <a:t>100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alunos?: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8550" y="1250949"/>
            <a:ext cx="2301875" cy="1758950"/>
            <a:chOff x="1098550" y="1250949"/>
            <a:chExt cx="2301875" cy="17589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575" y="1281175"/>
              <a:ext cx="2228850" cy="17287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04900" y="1257299"/>
              <a:ext cx="533400" cy="152400"/>
            </a:xfrm>
            <a:custGeom>
              <a:avLst/>
              <a:gdLst/>
              <a:ahLst/>
              <a:cxnLst/>
              <a:rect l="l" t="t" r="r" b="b"/>
              <a:pathLst>
                <a:path w="533400" h="152400">
                  <a:moveTo>
                    <a:pt x="0" y="152400"/>
                  </a:moveTo>
                  <a:lnTo>
                    <a:pt x="533400" y="1524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ln w="127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6154" y="510921"/>
            <a:ext cx="11544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Exercício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26314"/>
            <a:ext cx="3834765" cy="8521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10" dirty="0">
                <a:latin typeface="Times New Roman"/>
                <a:cs typeface="Times New Roman"/>
              </a:rPr>
              <a:t>Exercício</a:t>
            </a:r>
            <a:endParaRPr sz="1300">
              <a:latin typeface="Times New Roman"/>
              <a:cs typeface="Times New Roman"/>
            </a:endParaRPr>
          </a:p>
          <a:p>
            <a:pPr marL="330200" marR="508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contendo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números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inteiros,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formular 	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algoritmo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determine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maior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desta 	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Exercício</a:t>
            </a:r>
            <a:r>
              <a:rPr spc="-65" dirty="0"/>
              <a:t> </a:t>
            </a:r>
            <a:r>
              <a:rPr dirty="0"/>
              <a:t>-</a:t>
            </a:r>
            <a:r>
              <a:rPr spc="-70" dirty="0"/>
              <a:t> </a:t>
            </a:r>
            <a:r>
              <a:rPr spc="-10" dirty="0"/>
              <a:t>solução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25678"/>
            <a:ext cx="3834765" cy="8521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10" dirty="0">
                <a:latin typeface="Times New Roman"/>
                <a:cs typeface="Times New Roman"/>
              </a:rPr>
              <a:t>Exercício</a:t>
            </a:r>
            <a:endParaRPr sz="1300">
              <a:latin typeface="Times New Roman"/>
              <a:cs typeface="Times New Roman"/>
            </a:endParaRPr>
          </a:p>
          <a:p>
            <a:pPr marL="330200" marR="508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Para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contendo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números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inteiros,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formular 	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algoritmo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determine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maior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desta 	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00" y="2019324"/>
            <a:ext cx="1421638" cy="9072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Acessando</a:t>
            </a:r>
            <a:r>
              <a:rPr spc="-55" dirty="0"/>
              <a:t> </a:t>
            </a:r>
            <a:r>
              <a:rPr dirty="0"/>
              <a:t>seus</a:t>
            </a:r>
            <a:r>
              <a:rPr spc="-65" dirty="0"/>
              <a:t> </a:t>
            </a:r>
            <a:r>
              <a:rPr spc="-10" dirty="0"/>
              <a:t>elementos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48308"/>
            <a:ext cx="3841115" cy="208915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49225" marR="5080" indent="-139700">
              <a:lnSpc>
                <a:spcPts val="1400"/>
              </a:lnSpc>
              <a:spcBef>
                <a:spcPts val="27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dirty="0">
                <a:latin typeface="Times New Roman"/>
                <a:cs typeface="Times New Roman"/>
              </a:rPr>
              <a:t>As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listas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suportam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acesso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sub-listas,</a:t>
            </a:r>
            <a:r>
              <a:rPr sz="1300" spc="1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isto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é,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certos </a:t>
            </a:r>
            <a:r>
              <a:rPr sz="1300" spc="45" dirty="0">
                <a:latin typeface="Times New Roman"/>
                <a:cs typeface="Times New Roman"/>
              </a:rPr>
              <a:t>conjuntos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índices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14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lista[i:j]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125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dirty="0">
                <a:latin typeface="Times New Roman"/>
                <a:cs typeface="Times New Roman"/>
              </a:rPr>
              <a:t>seleciona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12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sub-lista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dos</a:t>
            </a:r>
            <a:r>
              <a:rPr sz="1050" spc="16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índices</a:t>
            </a:r>
            <a:r>
              <a:rPr sz="1050" spc="13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</a:t>
            </a:r>
            <a:r>
              <a:rPr sz="1050" spc="17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até</a:t>
            </a:r>
            <a:r>
              <a:rPr sz="1050" spc="14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j-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14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lista[i:]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140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spc="20" dirty="0">
                <a:latin typeface="Times New Roman"/>
                <a:cs typeface="Times New Roman"/>
              </a:rPr>
              <a:t>seleciona</a:t>
            </a:r>
            <a:r>
              <a:rPr sz="1050" spc="-3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a</a:t>
            </a:r>
            <a:r>
              <a:rPr sz="1050" spc="2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sub-lista</a:t>
            </a:r>
            <a:r>
              <a:rPr sz="1050" spc="-3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dos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índice</a:t>
            </a:r>
            <a:r>
              <a:rPr sz="1050" spc="35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i</a:t>
            </a:r>
            <a:r>
              <a:rPr sz="1050" spc="4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até</a:t>
            </a:r>
            <a:r>
              <a:rPr sz="1050" spc="10" dirty="0">
                <a:latin typeface="Times New Roman"/>
                <a:cs typeface="Times New Roman"/>
              </a:rPr>
              <a:t> </a:t>
            </a:r>
            <a:r>
              <a:rPr sz="1050" spc="20" dirty="0">
                <a:latin typeface="Times New Roman"/>
                <a:cs typeface="Times New Roman"/>
              </a:rPr>
              <a:t>o</a:t>
            </a:r>
            <a:r>
              <a:rPr sz="1050" spc="50" dirty="0">
                <a:latin typeface="Times New Roman"/>
                <a:cs typeface="Times New Roman"/>
              </a:rPr>
              <a:t> </a:t>
            </a:r>
            <a:r>
              <a:rPr sz="1050" spc="-20" dirty="0">
                <a:latin typeface="Times New Roman"/>
                <a:cs typeface="Times New Roman"/>
              </a:rPr>
              <a:t>final</a:t>
            </a:r>
            <a:endParaRPr sz="105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13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lista[:j]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130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dirty="0">
                <a:latin typeface="Times New Roman"/>
                <a:cs typeface="Times New Roman"/>
              </a:rPr>
              <a:t>seleciona</a:t>
            </a:r>
            <a:r>
              <a:rPr sz="1050" spc="4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114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sub-lista</a:t>
            </a:r>
            <a:r>
              <a:rPr sz="1050" spc="45" dirty="0">
                <a:latin typeface="Times New Roman"/>
                <a:cs typeface="Times New Roman"/>
              </a:rPr>
              <a:t> </a:t>
            </a:r>
            <a:r>
              <a:rPr sz="1050" spc="55" dirty="0">
                <a:latin typeface="Times New Roman"/>
                <a:cs typeface="Times New Roman"/>
              </a:rPr>
              <a:t>do</a:t>
            </a:r>
            <a:r>
              <a:rPr sz="1050" spc="15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início</a:t>
            </a:r>
            <a:r>
              <a:rPr sz="1050" spc="10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até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o</a:t>
            </a:r>
            <a:r>
              <a:rPr sz="1050" spc="16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índice</a:t>
            </a:r>
            <a:r>
              <a:rPr sz="1050" spc="114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j-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13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10" dirty="0">
                <a:latin typeface="Times New Roman"/>
                <a:cs typeface="Times New Roman"/>
              </a:rPr>
              <a:t>lista[i:j:k]</a:t>
            </a:r>
            <a:endParaRPr sz="120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140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dirty="0">
                <a:latin typeface="Times New Roman"/>
                <a:cs typeface="Times New Roman"/>
              </a:rPr>
              <a:t>seleciona</a:t>
            </a:r>
            <a:r>
              <a:rPr sz="1050" spc="-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</a:t>
            </a:r>
            <a:r>
              <a:rPr sz="1050" spc="5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sub-lista</a:t>
            </a:r>
            <a:r>
              <a:rPr sz="1050" spc="-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dos</a:t>
            </a:r>
            <a:r>
              <a:rPr sz="1050" spc="8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índices</a:t>
            </a:r>
            <a:r>
              <a:rPr sz="1050" spc="6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</a:t>
            </a:r>
            <a:r>
              <a:rPr sz="1050" spc="9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até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j-</a:t>
            </a:r>
            <a:r>
              <a:rPr sz="1050" spc="-105" dirty="0">
                <a:latin typeface="Times New Roman"/>
                <a:cs typeface="Times New Roman"/>
              </a:rPr>
              <a:t>1,</a:t>
            </a:r>
            <a:r>
              <a:rPr sz="1050" spc="114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indo</a:t>
            </a:r>
            <a:r>
              <a:rPr sz="1050" spc="30" dirty="0">
                <a:latin typeface="Times New Roman"/>
                <a:cs typeface="Times New Roman"/>
              </a:rPr>
              <a:t> </a:t>
            </a:r>
            <a:r>
              <a:rPr sz="1050" spc="50" dirty="0">
                <a:latin typeface="Times New Roman"/>
                <a:cs typeface="Times New Roman"/>
              </a:rPr>
              <a:t>de</a:t>
            </a:r>
            <a:r>
              <a:rPr sz="1050" spc="8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k</a:t>
            </a:r>
            <a:r>
              <a:rPr sz="1050" spc="70" dirty="0">
                <a:latin typeface="Times New Roman"/>
                <a:cs typeface="Times New Roman"/>
              </a:rPr>
              <a:t> </a:t>
            </a:r>
            <a:r>
              <a:rPr sz="1050" spc="65" dirty="0">
                <a:latin typeface="Times New Roman"/>
                <a:cs typeface="Times New Roman"/>
              </a:rPr>
              <a:t>em</a:t>
            </a:r>
            <a:r>
              <a:rPr sz="1050" spc="85" dirty="0">
                <a:latin typeface="Times New Roman"/>
                <a:cs typeface="Times New Roman"/>
              </a:rPr>
              <a:t> </a:t>
            </a:r>
            <a:r>
              <a:rPr sz="1050" spc="-50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  <a:p>
            <a:pPr marL="469900" lvl="2" indent="-123825">
              <a:lnSpc>
                <a:spcPct val="100000"/>
              </a:lnSpc>
              <a:spcBef>
                <a:spcPts val="120"/>
              </a:spcBef>
              <a:buClr>
                <a:srgbClr val="009DD9"/>
              </a:buClr>
              <a:buSzPct val="66666"/>
              <a:buFont typeface="DejaVu Sans"/>
              <a:buChar char="⚫"/>
              <a:tabLst>
                <a:tab pos="469900" algn="l"/>
              </a:tabLst>
            </a:pPr>
            <a:r>
              <a:rPr sz="1050" dirty="0">
                <a:latin typeface="Times New Roman"/>
                <a:cs typeface="Times New Roman"/>
              </a:rPr>
              <a:t>i,</a:t>
            </a:r>
            <a:r>
              <a:rPr sz="1050" spc="3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i+k,</a:t>
            </a:r>
            <a:r>
              <a:rPr sz="1050" spc="3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i+2k,</a:t>
            </a:r>
            <a:r>
              <a:rPr sz="1050" spc="15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...,</a:t>
            </a:r>
            <a:r>
              <a:rPr sz="1050" spc="10" dirty="0">
                <a:latin typeface="Times New Roman"/>
                <a:cs typeface="Times New Roman"/>
              </a:rPr>
              <a:t> </a:t>
            </a:r>
            <a:r>
              <a:rPr sz="1050" dirty="0">
                <a:latin typeface="Times New Roman"/>
                <a:cs typeface="Times New Roman"/>
              </a:rPr>
              <a:t>j-</a:t>
            </a:r>
            <a:r>
              <a:rPr sz="1050" spc="-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Acessando</a:t>
            </a:r>
            <a:r>
              <a:rPr spc="-55" dirty="0"/>
              <a:t> </a:t>
            </a:r>
            <a:r>
              <a:rPr dirty="0"/>
              <a:t>seus</a:t>
            </a:r>
            <a:r>
              <a:rPr spc="-65" dirty="0"/>
              <a:t> </a:t>
            </a:r>
            <a:r>
              <a:rPr spc="-10" dirty="0"/>
              <a:t>elementos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280035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20" dirty="0">
                <a:latin typeface="Times New Roman"/>
                <a:cs typeface="Times New Roman"/>
              </a:rPr>
              <a:t>Selecionando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sub-listas</a:t>
            </a:r>
            <a:r>
              <a:rPr sz="1300" spc="60" dirty="0">
                <a:latin typeface="Times New Roman"/>
                <a:cs typeface="Times New Roman"/>
              </a:rPr>
              <a:t> 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elementos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371599"/>
            <a:ext cx="1693037" cy="17073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Acessando</a:t>
            </a:r>
            <a:r>
              <a:rPr spc="-55" dirty="0"/>
              <a:t> </a:t>
            </a:r>
            <a:r>
              <a:rPr dirty="0"/>
              <a:t>seus</a:t>
            </a:r>
            <a:r>
              <a:rPr spc="-65" dirty="0"/>
              <a:t> </a:t>
            </a:r>
            <a:r>
              <a:rPr spc="-10" dirty="0"/>
              <a:t>elementos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26314"/>
            <a:ext cx="3979545" cy="88963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Listas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são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objetos</a:t>
            </a:r>
            <a:r>
              <a:rPr sz="1300" spc="165" dirty="0">
                <a:latin typeface="Times New Roman"/>
                <a:cs typeface="Times New Roman"/>
              </a:rPr>
              <a:t> </a:t>
            </a:r>
            <a:r>
              <a:rPr sz="1300" b="1" i="1" spc="-10" dirty="0">
                <a:latin typeface="Georgia"/>
                <a:cs typeface="Georgia"/>
              </a:rPr>
              <a:t>mutáveis</a:t>
            </a:r>
            <a:endParaRPr sz="1300">
              <a:latin typeface="Georgia"/>
              <a:cs typeface="Georgia"/>
            </a:endParaRPr>
          </a:p>
          <a:p>
            <a:pPr marL="330200" marR="19431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10" dirty="0">
                <a:latin typeface="Times New Roman"/>
                <a:cs typeface="Times New Roman"/>
              </a:rPr>
              <a:t>Podemos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acessar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qualquer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ou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sequência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de 	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modificá-</a:t>
            </a:r>
            <a:r>
              <a:rPr sz="1200" spc="-25" dirty="0">
                <a:latin typeface="Times New Roman"/>
                <a:cs typeface="Times New Roman"/>
              </a:rPr>
              <a:t>los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55" dirty="0">
                <a:latin typeface="Times New Roman"/>
                <a:cs typeface="Times New Roman"/>
              </a:rPr>
              <a:t>Os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lista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podem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possuir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qualquer</a:t>
            </a:r>
            <a:r>
              <a:rPr sz="1200" spc="-20" dirty="0">
                <a:latin typeface="Times New Roman"/>
                <a:cs typeface="Times New Roman"/>
              </a:rPr>
              <a:t> tipo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2100" y="2102637"/>
            <a:ext cx="1507363" cy="11358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Acessando</a:t>
            </a:r>
            <a:r>
              <a:rPr spc="-55" dirty="0"/>
              <a:t> </a:t>
            </a:r>
            <a:r>
              <a:rPr dirty="0"/>
              <a:t>seus</a:t>
            </a:r>
            <a:r>
              <a:rPr spc="-65" dirty="0"/>
              <a:t> </a:t>
            </a:r>
            <a:r>
              <a:rPr spc="-10" dirty="0"/>
              <a:t>elementos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963035" cy="1024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22225" indent="-139700" algn="just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também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associar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o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valor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cada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posição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da </a:t>
            </a:r>
            <a:r>
              <a:rPr sz="1300" spc="10" dirty="0">
                <a:latin typeface="Times New Roman"/>
                <a:cs typeface="Times New Roman"/>
              </a:rPr>
              <a:t>lista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variável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sem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precisar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especificar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os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índices </a:t>
            </a:r>
            <a:r>
              <a:rPr sz="1300" spc="60" dirty="0">
                <a:latin typeface="Times New Roman"/>
                <a:cs typeface="Times New Roman"/>
              </a:rPr>
              <a:t>usando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recurso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b="1" i="1" spc="-10" dirty="0">
                <a:latin typeface="Georgia"/>
                <a:cs typeface="Georgia"/>
              </a:rPr>
              <a:t>unpacking</a:t>
            </a:r>
            <a:endParaRPr sz="1300">
              <a:latin typeface="Georgia"/>
              <a:cs typeface="Georgia"/>
            </a:endParaRPr>
          </a:p>
          <a:p>
            <a:pPr marL="330835" lvl="1" indent="-121920" algn="just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Basta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definir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variáveis,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entre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colchetes,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que</a:t>
            </a:r>
            <a:endParaRPr sz="1200">
              <a:latin typeface="Times New Roman"/>
              <a:cs typeface="Times New Roman"/>
            </a:endParaRPr>
          </a:p>
          <a:p>
            <a:pPr marL="332105" algn="just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receberá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conteúdo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174" y="2019299"/>
            <a:ext cx="141439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Concatenação</a:t>
            </a:r>
            <a:r>
              <a:rPr spc="-60" dirty="0"/>
              <a:t> </a:t>
            </a:r>
            <a:r>
              <a:rPr dirty="0"/>
              <a:t>e</a:t>
            </a:r>
            <a:r>
              <a:rPr spc="-65" dirty="0"/>
              <a:t> </a:t>
            </a:r>
            <a:r>
              <a:rPr spc="-10" dirty="0"/>
              <a:t>repetição</a:t>
            </a:r>
            <a:r>
              <a:rPr spc="-70" dirty="0"/>
              <a:t> </a:t>
            </a:r>
            <a:r>
              <a:rPr spc="-25" dirty="0"/>
              <a:t>de </a:t>
            </a:r>
            <a:r>
              <a:rPr spc="-10" dirty="0"/>
              <a:t>listas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3989070" cy="857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unir/concatenar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duas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listas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para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formar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uma </a:t>
            </a:r>
            <a:r>
              <a:rPr sz="1300" dirty="0">
                <a:latin typeface="Times New Roman"/>
                <a:cs typeface="Times New Roman"/>
              </a:rPr>
              <a:t>nova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usando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operador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+</a:t>
            </a:r>
            <a:endParaRPr sz="13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310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20" dirty="0">
                <a:latin typeface="Times New Roman"/>
                <a:cs typeface="Times New Roman"/>
              </a:rPr>
              <a:t>Podemos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criar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lista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partir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da</a:t>
            </a:r>
            <a:r>
              <a:rPr sz="1300" spc="20" dirty="0">
                <a:latin typeface="Times New Roman"/>
                <a:cs typeface="Times New Roman"/>
              </a:rPr>
              <a:t> repetição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outra</a:t>
            </a:r>
            <a:endParaRPr sz="130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  <a:spcBef>
                <a:spcPts val="5"/>
              </a:spcBef>
            </a:pPr>
            <a:r>
              <a:rPr sz="1300" spc="60" dirty="0">
                <a:latin typeface="Times New Roman"/>
                <a:cs typeface="Times New Roman"/>
              </a:rPr>
              <a:t>usando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operador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*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0" y="1897887"/>
            <a:ext cx="1721612" cy="14930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Removendo</a:t>
            </a:r>
            <a:r>
              <a:rPr spc="-60" dirty="0"/>
              <a:t> </a:t>
            </a:r>
            <a:r>
              <a:rPr spc="-10" dirty="0"/>
              <a:t>elementos</a:t>
            </a:r>
            <a:r>
              <a:rPr spc="-75" dirty="0"/>
              <a:t> </a:t>
            </a:r>
            <a:r>
              <a:rPr dirty="0"/>
              <a:t>da</a:t>
            </a:r>
            <a:r>
              <a:rPr spc="-70" dirty="0"/>
              <a:t> </a:t>
            </a:r>
            <a:r>
              <a:rPr spc="-10" dirty="0"/>
              <a:t>lista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23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pc="10" dirty="0"/>
              <a:t>Podemos</a:t>
            </a:r>
            <a:r>
              <a:rPr spc="30" dirty="0"/>
              <a:t> </a:t>
            </a:r>
            <a:r>
              <a:rPr spc="10" dirty="0"/>
              <a:t>remover</a:t>
            </a:r>
            <a:r>
              <a:rPr spc="40" dirty="0"/>
              <a:t> </a:t>
            </a:r>
            <a:r>
              <a:rPr spc="85" dirty="0"/>
              <a:t>um</a:t>
            </a:r>
            <a:r>
              <a:rPr spc="25" dirty="0"/>
              <a:t> </a:t>
            </a:r>
            <a:r>
              <a:rPr spc="60" dirty="0"/>
              <a:t>ou</a:t>
            </a:r>
            <a:r>
              <a:rPr spc="50" dirty="0"/>
              <a:t> </a:t>
            </a:r>
            <a:r>
              <a:rPr spc="10" dirty="0"/>
              <a:t>mais</a:t>
            </a:r>
            <a:r>
              <a:rPr spc="5" dirty="0"/>
              <a:t> </a:t>
            </a:r>
            <a:r>
              <a:rPr spc="50" dirty="0"/>
              <a:t>elementos</a:t>
            </a:r>
            <a:r>
              <a:rPr spc="15" dirty="0"/>
              <a:t> </a:t>
            </a:r>
            <a:r>
              <a:rPr spc="60" dirty="0"/>
              <a:t>de</a:t>
            </a:r>
            <a:r>
              <a:rPr spc="35" dirty="0"/>
              <a:t> </a:t>
            </a:r>
            <a:r>
              <a:rPr spc="70" dirty="0"/>
              <a:t>uma</a:t>
            </a:r>
            <a:r>
              <a:rPr spc="30" dirty="0"/>
              <a:t> </a:t>
            </a:r>
            <a:r>
              <a:rPr spc="-10" dirty="0"/>
              <a:t>lista </a:t>
            </a:r>
            <a:r>
              <a:rPr spc="60" dirty="0"/>
              <a:t>de</a:t>
            </a:r>
            <a:r>
              <a:rPr spc="-60" dirty="0"/>
              <a:t> </a:t>
            </a:r>
            <a:r>
              <a:rPr spc="50" dirty="0"/>
              <a:t>duas</a:t>
            </a:r>
            <a:r>
              <a:rPr spc="5" dirty="0"/>
              <a:t> </a:t>
            </a:r>
            <a:r>
              <a:rPr spc="-10" dirty="0"/>
              <a:t>maneiras</a:t>
            </a: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Usando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operador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b="1" spc="50" dirty="0">
                <a:latin typeface="Times New Roman"/>
                <a:cs typeface="Times New Roman"/>
              </a:rPr>
              <a:t>del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20" dirty="0">
                <a:latin typeface="Times New Roman"/>
                <a:cs typeface="Times New Roman"/>
              </a:rPr>
              <a:t>Atribuindo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lista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vazia </a:t>
            </a:r>
            <a:r>
              <a:rPr sz="1200" spc="20" dirty="0">
                <a:latin typeface="Times New Roman"/>
                <a:cs typeface="Times New Roman"/>
              </a:rPr>
              <a:t>àquela </a:t>
            </a:r>
            <a:r>
              <a:rPr sz="1200" spc="-10" dirty="0">
                <a:latin typeface="Times New Roman"/>
                <a:cs typeface="Times New Roman"/>
              </a:rPr>
              <a:t>posição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1000" y="2119312"/>
            <a:ext cx="3810000" cy="1043305"/>
            <a:chOff x="381000" y="2119312"/>
            <a:chExt cx="3810000" cy="1043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2119337"/>
              <a:ext cx="1843024" cy="10358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7886" y="2119312"/>
              <a:ext cx="1793113" cy="10429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Copiando</a:t>
            </a:r>
            <a:r>
              <a:rPr spc="-50" dirty="0"/>
              <a:t> </a:t>
            </a:r>
            <a:r>
              <a:rPr dirty="0"/>
              <a:t>uma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298450" y="1728850"/>
            <a:ext cx="1749425" cy="1471930"/>
            <a:chOff x="298450" y="1728850"/>
            <a:chExt cx="1749425" cy="14719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728850"/>
              <a:ext cx="1743075" cy="14715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4800" y="2607462"/>
              <a:ext cx="1285875" cy="495300"/>
            </a:xfrm>
            <a:custGeom>
              <a:avLst/>
              <a:gdLst/>
              <a:ahLst/>
              <a:cxnLst/>
              <a:rect l="l" t="t" r="r" b="b"/>
              <a:pathLst>
                <a:path w="1285875" h="495300">
                  <a:moveTo>
                    <a:pt x="0" y="495300"/>
                  </a:moveTo>
                  <a:lnTo>
                    <a:pt x="1285875" y="495300"/>
                  </a:lnTo>
                  <a:lnTo>
                    <a:pt x="1285875" y="0"/>
                  </a:lnTo>
                  <a:lnTo>
                    <a:pt x="0" y="0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1874" y="926314"/>
            <a:ext cx="4021454" cy="1168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70" dirty="0">
                <a:latin typeface="Times New Roman"/>
                <a:cs typeface="Times New Roman"/>
              </a:rPr>
              <a:t>A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operação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 </a:t>
            </a:r>
            <a:r>
              <a:rPr sz="1300" dirty="0">
                <a:latin typeface="Times New Roman"/>
                <a:cs typeface="Times New Roman"/>
              </a:rPr>
              <a:t>atribuição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não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cria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cópia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do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objeto!</a:t>
            </a:r>
            <a:endParaRPr sz="1300">
              <a:latin typeface="Times New Roman"/>
              <a:cs typeface="Times New Roman"/>
            </a:endParaRPr>
          </a:p>
          <a:p>
            <a:pPr marL="330200" marR="825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Em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Python,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são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objetos.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atribuirmos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	</a:t>
            </a:r>
            <a:r>
              <a:rPr sz="1200" spc="10" dirty="0">
                <a:latin typeface="Times New Roman"/>
                <a:cs typeface="Times New Roman"/>
              </a:rPr>
              <a:t>outra,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ambas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irão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referir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mesmo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objeto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2582545">
              <a:lnSpc>
                <a:spcPct val="100000"/>
              </a:lnSpc>
              <a:tabLst>
                <a:tab pos="3130550" algn="l"/>
              </a:tabLst>
            </a:pPr>
            <a:r>
              <a:rPr sz="1950" spc="-15" baseline="2136" dirty="0">
                <a:latin typeface="Times New Roman"/>
                <a:cs typeface="Times New Roman"/>
              </a:rPr>
              <a:t>lista</a:t>
            </a:r>
            <a:r>
              <a:rPr sz="1950" baseline="2136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lista1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88183" y="2109088"/>
            <a:ext cx="586740" cy="443865"/>
          </a:xfrm>
          <a:custGeom>
            <a:avLst/>
            <a:gdLst/>
            <a:ahLst/>
            <a:cxnLst/>
            <a:rect l="l" t="t" r="r" b="b"/>
            <a:pathLst>
              <a:path w="586739" h="443864">
                <a:moveTo>
                  <a:pt x="307467" y="443611"/>
                </a:moveTo>
                <a:lnTo>
                  <a:pt x="306895" y="435991"/>
                </a:lnTo>
                <a:lnTo>
                  <a:pt x="302895" y="381889"/>
                </a:lnTo>
                <a:lnTo>
                  <a:pt x="302641" y="377952"/>
                </a:lnTo>
                <a:lnTo>
                  <a:pt x="299212" y="375031"/>
                </a:lnTo>
                <a:lnTo>
                  <a:pt x="295275" y="375285"/>
                </a:lnTo>
                <a:lnTo>
                  <a:pt x="291338" y="375666"/>
                </a:lnTo>
                <a:lnTo>
                  <a:pt x="288417" y="379095"/>
                </a:lnTo>
                <a:lnTo>
                  <a:pt x="288671" y="383032"/>
                </a:lnTo>
                <a:lnTo>
                  <a:pt x="290385" y="406133"/>
                </a:lnTo>
                <a:lnTo>
                  <a:pt x="11684" y="0"/>
                </a:lnTo>
                <a:lnTo>
                  <a:pt x="0" y="8128"/>
                </a:lnTo>
                <a:lnTo>
                  <a:pt x="278638" y="414159"/>
                </a:lnTo>
                <a:lnTo>
                  <a:pt x="254127" y="402590"/>
                </a:lnTo>
                <a:lnTo>
                  <a:pt x="249809" y="404114"/>
                </a:lnTo>
                <a:lnTo>
                  <a:pt x="246507" y="411226"/>
                </a:lnTo>
                <a:lnTo>
                  <a:pt x="248031" y="415544"/>
                </a:lnTo>
                <a:lnTo>
                  <a:pt x="307467" y="443611"/>
                </a:lnTo>
                <a:close/>
              </a:path>
              <a:path w="586739" h="443864">
                <a:moveTo>
                  <a:pt x="586359" y="11684"/>
                </a:moveTo>
                <a:lnTo>
                  <a:pt x="574294" y="4064"/>
                </a:lnTo>
                <a:lnTo>
                  <a:pt x="322948" y="405371"/>
                </a:lnTo>
                <a:lnTo>
                  <a:pt x="323850" y="378333"/>
                </a:lnTo>
                <a:lnTo>
                  <a:pt x="320675" y="375031"/>
                </a:lnTo>
                <a:lnTo>
                  <a:pt x="312801" y="374777"/>
                </a:lnTo>
                <a:lnTo>
                  <a:pt x="309499" y="377825"/>
                </a:lnTo>
                <a:lnTo>
                  <a:pt x="307467" y="443611"/>
                </a:lnTo>
                <a:lnTo>
                  <a:pt x="323202" y="435356"/>
                </a:lnTo>
                <a:lnTo>
                  <a:pt x="362204" y="414909"/>
                </a:lnTo>
                <a:lnTo>
                  <a:pt x="365760" y="413004"/>
                </a:lnTo>
                <a:lnTo>
                  <a:pt x="367030" y="408686"/>
                </a:lnTo>
                <a:lnTo>
                  <a:pt x="365252" y="405257"/>
                </a:lnTo>
                <a:lnTo>
                  <a:pt x="363347" y="401701"/>
                </a:lnTo>
                <a:lnTo>
                  <a:pt x="359029" y="400431"/>
                </a:lnTo>
                <a:lnTo>
                  <a:pt x="335038" y="413029"/>
                </a:lnTo>
                <a:lnTo>
                  <a:pt x="322465" y="419633"/>
                </a:lnTo>
                <a:lnTo>
                  <a:pt x="335051" y="413004"/>
                </a:lnTo>
                <a:lnTo>
                  <a:pt x="586359" y="116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89579" y="2829559"/>
            <a:ext cx="6242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60" dirty="0">
                <a:latin typeface="Times New Roman"/>
                <a:cs typeface="Times New Roman"/>
              </a:rPr>
              <a:t>37189712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2055018" y="2550318"/>
          <a:ext cx="2557780" cy="304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031142" y="1788318"/>
          <a:ext cx="24765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84150" y="1693036"/>
            <a:ext cx="1728470" cy="1507490"/>
            <a:chOff x="184150" y="1693036"/>
            <a:chExt cx="1728470" cy="1507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1693036"/>
              <a:ext cx="1721612" cy="15073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0500" y="2607436"/>
              <a:ext cx="1285875" cy="495300"/>
            </a:xfrm>
            <a:custGeom>
              <a:avLst/>
              <a:gdLst/>
              <a:ahLst/>
              <a:cxnLst/>
              <a:rect l="l" t="t" r="r" b="b"/>
              <a:pathLst>
                <a:path w="1285875" h="495300">
                  <a:moveTo>
                    <a:pt x="0" y="495300"/>
                  </a:moveTo>
                  <a:lnTo>
                    <a:pt x="1285875" y="495300"/>
                  </a:lnTo>
                  <a:lnTo>
                    <a:pt x="1285875" y="0"/>
                  </a:lnTo>
                  <a:lnTo>
                    <a:pt x="0" y="0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Copiando</a:t>
            </a:r>
            <a:r>
              <a:rPr spc="-50" dirty="0"/>
              <a:t> </a:t>
            </a:r>
            <a:r>
              <a:rPr dirty="0"/>
              <a:t>uma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1874" y="967485"/>
            <a:ext cx="3425825" cy="236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dirty="0">
                <a:latin typeface="Times New Roman"/>
                <a:cs typeface="Times New Roman"/>
              </a:rPr>
              <a:t>Para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copiar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lista,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correto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é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utilizar</a:t>
            </a:r>
            <a:r>
              <a:rPr sz="1300" spc="10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[:]</a:t>
            </a:r>
            <a:r>
              <a:rPr sz="1300" b="1" spc="15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na </a:t>
            </a:r>
            <a:r>
              <a:rPr sz="1300" spc="10" dirty="0">
                <a:latin typeface="Times New Roman"/>
                <a:cs typeface="Times New Roman"/>
              </a:rPr>
              <a:t>operação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atribuição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Times New Roman"/>
              <a:cs typeface="Times New Roman"/>
            </a:endParaRPr>
          </a:p>
          <a:p>
            <a:pPr marL="2619375" algn="ctr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300">
              <a:latin typeface="Times New Roman"/>
              <a:cs typeface="Times New Roman"/>
            </a:endParaRPr>
          </a:p>
          <a:p>
            <a:pPr marL="2607310" algn="ctr">
              <a:lnSpc>
                <a:spcPct val="100000"/>
              </a:lnSpc>
            </a:pPr>
            <a:r>
              <a:rPr sz="1300" spc="-10" dirty="0">
                <a:latin typeface="Times New Roman"/>
                <a:cs typeface="Times New Roman"/>
              </a:rPr>
              <a:t>36998160</a:t>
            </a:r>
            <a:endParaRPr sz="1300">
              <a:latin typeface="Times New Roman"/>
              <a:cs typeface="Times New Roman"/>
            </a:endParaRPr>
          </a:p>
          <a:p>
            <a:pPr marL="2731770" marR="119380" indent="11430" algn="ctr">
              <a:lnSpc>
                <a:spcPct val="244499"/>
              </a:lnSpc>
              <a:spcBef>
                <a:spcPts val="560"/>
              </a:spcBef>
            </a:pPr>
            <a:r>
              <a:rPr sz="1300" spc="-10" dirty="0">
                <a:latin typeface="Times New Roman"/>
                <a:cs typeface="Times New Roman"/>
              </a:rPr>
              <a:t>lista1 </a:t>
            </a:r>
            <a:r>
              <a:rPr sz="1300" spc="-105" dirty="0">
                <a:latin typeface="Times New Roman"/>
                <a:cs typeface="Times New Roman"/>
              </a:rPr>
              <a:t>37415712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31142" y="2827940"/>
          <a:ext cx="24765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90500" y="2133599"/>
            <a:ext cx="1285875" cy="152400"/>
          </a:xfrm>
          <a:custGeom>
            <a:avLst/>
            <a:gdLst/>
            <a:ahLst/>
            <a:cxnLst/>
            <a:rect l="l" t="t" r="r" b="b"/>
            <a:pathLst>
              <a:path w="1285875" h="152400">
                <a:moveTo>
                  <a:pt x="0" y="152400"/>
                </a:moveTo>
                <a:lnTo>
                  <a:pt x="1285875" y="152400"/>
                </a:lnTo>
                <a:lnTo>
                  <a:pt x="1285875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700">
            <a:solidFill>
              <a:srgbClr val="0850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Copiando</a:t>
            </a:r>
            <a:r>
              <a:rPr spc="-50" dirty="0"/>
              <a:t> </a:t>
            </a:r>
            <a:r>
              <a:rPr dirty="0"/>
              <a:t>uma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26314"/>
            <a:ext cx="4021454" cy="669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70" dirty="0">
                <a:latin typeface="Times New Roman"/>
                <a:cs typeface="Times New Roman"/>
              </a:rPr>
              <a:t>A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operação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 </a:t>
            </a:r>
            <a:r>
              <a:rPr sz="1300" dirty="0">
                <a:latin typeface="Times New Roman"/>
                <a:cs typeface="Times New Roman"/>
              </a:rPr>
              <a:t>atribuição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não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cria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cópia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do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objeto!</a:t>
            </a:r>
            <a:endParaRPr sz="1300">
              <a:latin typeface="Times New Roman"/>
              <a:cs typeface="Times New Roman"/>
            </a:endParaRPr>
          </a:p>
          <a:p>
            <a:pPr marL="330200" marR="825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Em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Python,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são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objetos.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atribuirmos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a 	</a:t>
            </a:r>
            <a:r>
              <a:rPr sz="1200" spc="10" dirty="0">
                <a:latin typeface="Times New Roman"/>
                <a:cs typeface="Times New Roman"/>
              </a:rPr>
              <a:t>outra,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ambas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irão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referir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ao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mesmo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objeto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7050" y="1959825"/>
            <a:ext cx="1749425" cy="1469390"/>
            <a:chOff x="527050" y="1959825"/>
            <a:chExt cx="1749425" cy="14693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959825"/>
              <a:ext cx="1743075" cy="14691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3400" y="2836062"/>
              <a:ext cx="1285875" cy="495300"/>
            </a:xfrm>
            <a:custGeom>
              <a:avLst/>
              <a:gdLst/>
              <a:ahLst/>
              <a:cxnLst/>
              <a:rect l="l" t="t" r="r" b="b"/>
              <a:pathLst>
                <a:path w="1285875" h="495300">
                  <a:moveTo>
                    <a:pt x="0" y="495300"/>
                  </a:moveTo>
                  <a:lnTo>
                    <a:pt x="1285875" y="495300"/>
                  </a:lnTo>
                  <a:lnTo>
                    <a:pt x="1285875" y="0"/>
                  </a:lnTo>
                  <a:lnTo>
                    <a:pt x="0" y="0"/>
                  </a:lnTo>
                  <a:lnTo>
                    <a:pt x="0" y="495300"/>
                  </a:lnTo>
                  <a:close/>
                </a:path>
              </a:pathLst>
            </a:custGeom>
            <a:ln w="127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3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/>
              <a:t>Procurando</a:t>
            </a:r>
            <a:r>
              <a:rPr sz="2250" spc="-70" dirty="0"/>
              <a:t> </a:t>
            </a:r>
            <a:r>
              <a:rPr sz="2250" dirty="0"/>
              <a:t>um</a:t>
            </a:r>
            <a:r>
              <a:rPr sz="2250" spc="-15" dirty="0"/>
              <a:t> </a:t>
            </a:r>
            <a:r>
              <a:rPr sz="2250" spc="-10" dirty="0"/>
              <a:t>elemento</a:t>
            </a:r>
            <a:r>
              <a:rPr sz="2250" spc="-50" dirty="0"/>
              <a:t> </a:t>
            </a:r>
            <a:r>
              <a:rPr sz="2250" dirty="0"/>
              <a:t>na</a:t>
            </a:r>
            <a:r>
              <a:rPr sz="2250" spc="-35" dirty="0"/>
              <a:t> </a:t>
            </a:r>
            <a:r>
              <a:rPr sz="2250" spc="-10" dirty="0"/>
              <a:t>lista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79285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0" dirty="0">
                <a:latin typeface="Times New Roman"/>
                <a:cs typeface="Times New Roman"/>
              </a:rPr>
              <a:t>O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operador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b="1" spc="80" dirty="0">
                <a:latin typeface="Times New Roman"/>
                <a:cs typeface="Times New Roman"/>
              </a:rPr>
              <a:t>in</a:t>
            </a:r>
            <a:r>
              <a:rPr sz="1300" b="1" spc="3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permite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verificar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se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85" dirty="0">
                <a:latin typeface="Times New Roman"/>
                <a:cs typeface="Times New Roman"/>
              </a:rPr>
              <a:t>um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determinado </a:t>
            </a:r>
            <a:r>
              <a:rPr sz="1300" spc="55" dirty="0">
                <a:latin typeface="Times New Roman"/>
                <a:cs typeface="Times New Roman"/>
              </a:rPr>
              <a:t>elemento</a:t>
            </a:r>
            <a:r>
              <a:rPr sz="1300" spc="-5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está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presente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ou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não</a:t>
            </a:r>
            <a:r>
              <a:rPr sz="1300" spc="-5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em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562074"/>
            <a:ext cx="2243074" cy="80723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Métodos</a:t>
            </a:r>
            <a:r>
              <a:rPr spc="-90" dirty="0"/>
              <a:t> </a:t>
            </a:r>
            <a:r>
              <a:rPr dirty="0"/>
              <a:t>sobre</a:t>
            </a:r>
            <a:r>
              <a:rPr spc="-85" dirty="0"/>
              <a:t> </a:t>
            </a:r>
            <a:r>
              <a:rPr spc="-10" dirty="0"/>
              <a:t>listas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4001135" cy="1503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295275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dirty="0">
                <a:latin typeface="Times New Roman"/>
                <a:cs typeface="Times New Roman"/>
              </a:rPr>
              <a:t>Uma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é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classe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e,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portanto,</a:t>
            </a:r>
            <a:r>
              <a:rPr sz="1300" spc="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possui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diversos </a:t>
            </a:r>
            <a:r>
              <a:rPr sz="1300" spc="55" dirty="0">
                <a:latin typeface="Times New Roman"/>
                <a:cs typeface="Times New Roman"/>
              </a:rPr>
              <a:t>métodos</a:t>
            </a:r>
            <a:r>
              <a:rPr sz="1300" dirty="0">
                <a:latin typeface="Times New Roman"/>
                <a:cs typeface="Times New Roman"/>
              </a:rPr>
              <a:t> já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definidos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30" dirty="0">
                <a:latin typeface="Times New Roman"/>
                <a:cs typeface="Times New Roman"/>
              </a:rPr>
              <a:t>Um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dos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jeitos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mais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simples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manipular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listas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é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utilizar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métodos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que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já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fazem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parte</a:t>
            </a:r>
            <a:r>
              <a:rPr sz="1200" spc="-20" dirty="0">
                <a:latin typeface="Times New Roman"/>
                <a:cs typeface="Times New Roman"/>
              </a:rPr>
              <a:t> dela</a:t>
            </a:r>
            <a:endParaRPr sz="12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2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Esses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métodos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permitem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executar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diversas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tarefas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20" dirty="0">
                <a:latin typeface="Times New Roman"/>
                <a:cs typeface="Times New Roman"/>
              </a:rPr>
              <a:t>Ordenação,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inserção,</a:t>
            </a:r>
            <a:r>
              <a:rPr sz="1200" spc="14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remoção,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etc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Esses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métodos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modificam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 </a:t>
            </a:r>
            <a:r>
              <a:rPr sz="1200" spc="50" dirty="0">
                <a:latin typeface="Times New Roman"/>
                <a:cs typeface="Times New Roman"/>
              </a:rPr>
              <a:t>conteúdo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original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Métodos</a:t>
            </a:r>
            <a:r>
              <a:rPr spc="-90" dirty="0"/>
              <a:t> </a:t>
            </a:r>
            <a:r>
              <a:rPr dirty="0"/>
              <a:t>sobre</a:t>
            </a:r>
            <a:r>
              <a:rPr spc="-85" dirty="0"/>
              <a:t> </a:t>
            </a:r>
            <a:r>
              <a:rPr spc="-10" dirty="0"/>
              <a:t>listas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25678"/>
            <a:ext cx="3891279" cy="182181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Forma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geral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dos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métodos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b="1" spc="70" dirty="0">
                <a:latin typeface="Times New Roman"/>
                <a:cs typeface="Times New Roman"/>
              </a:rPr>
              <a:t>lista.nome-</a:t>
            </a:r>
            <a:r>
              <a:rPr sz="1200" b="1" spc="75" dirty="0">
                <a:latin typeface="Times New Roman"/>
                <a:cs typeface="Times New Roman"/>
              </a:rPr>
              <a:t>método()</a:t>
            </a:r>
            <a:endParaRPr sz="1200">
              <a:latin typeface="Times New Roman"/>
              <a:cs typeface="Times New Roman"/>
            </a:endParaRPr>
          </a:p>
          <a:p>
            <a:pPr marL="149860" indent="-139700">
              <a:lnSpc>
                <a:spcPct val="100000"/>
              </a:lnSpc>
              <a:spcBef>
                <a:spcPts val="2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Alguns</a:t>
            </a:r>
            <a:r>
              <a:rPr sz="1300" spc="114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métodos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sort():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ordena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20" dirty="0">
                <a:latin typeface="Times New Roman"/>
                <a:cs typeface="Times New Roman"/>
              </a:rPr>
              <a:t>append(x):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insere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elemento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b="1" spc="20" dirty="0">
                <a:latin typeface="Times New Roman"/>
                <a:cs typeface="Times New Roman"/>
              </a:rPr>
              <a:t>x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no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final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insert(pos,x):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insere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b="1" spc="10" dirty="0">
                <a:latin typeface="Times New Roman"/>
                <a:cs typeface="Times New Roman"/>
              </a:rPr>
              <a:t>x</a:t>
            </a:r>
            <a:r>
              <a:rPr sz="1200" b="1" spc="90" dirty="0">
                <a:latin typeface="Times New Roman"/>
                <a:cs typeface="Times New Roman"/>
              </a:rPr>
              <a:t> </a:t>
            </a:r>
            <a:r>
              <a:rPr sz="1200" spc="65" dirty="0">
                <a:latin typeface="Times New Roman"/>
                <a:cs typeface="Times New Roman"/>
              </a:rPr>
              <a:t>na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posição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b="1" spc="60" dirty="0">
                <a:latin typeface="Times New Roman"/>
                <a:cs typeface="Times New Roman"/>
              </a:rPr>
              <a:t>pos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remove(x):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remove 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x</a:t>
            </a:r>
            <a:r>
              <a:rPr sz="1200" b="1" spc="6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pop(pos):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remove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retorna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posição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b="1" spc="60" dirty="0">
                <a:latin typeface="Times New Roman"/>
                <a:cs typeface="Times New Roman"/>
              </a:rPr>
              <a:t>pos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Métodos</a:t>
            </a:r>
            <a:r>
              <a:rPr spc="-90" dirty="0"/>
              <a:t> </a:t>
            </a:r>
            <a:r>
              <a:rPr dirty="0"/>
              <a:t>sobre</a:t>
            </a:r>
            <a:r>
              <a:rPr spc="-85" dirty="0"/>
              <a:t> </a:t>
            </a:r>
            <a:r>
              <a:rPr spc="-10" dirty="0"/>
              <a:t>listas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8477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-10" dirty="0">
                <a:latin typeface="Times New Roman"/>
                <a:cs typeface="Times New Roman"/>
              </a:rPr>
              <a:t>Exemplos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200" y="1200911"/>
            <a:ext cx="3733800" cy="2190115"/>
            <a:chOff x="457200" y="1200911"/>
            <a:chExt cx="3733800" cy="219011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" y="1200911"/>
              <a:ext cx="1741297" cy="21899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6500" y="1200911"/>
              <a:ext cx="1714500" cy="1620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135" dirty="0"/>
              <a:t> </a:t>
            </a:r>
            <a:r>
              <a:rPr spc="-10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25678"/>
            <a:ext cx="3606800" cy="7061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Uma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pode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armazenar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qualquer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tipo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dado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listas</a:t>
            </a:r>
            <a:r>
              <a:rPr sz="1200" spc="60" dirty="0">
                <a:latin typeface="Times New Roman"/>
                <a:cs typeface="Times New Roman"/>
              </a:rPr>
              <a:t> podem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inclusive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conter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outras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listas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30" dirty="0">
                <a:latin typeface="Times New Roman"/>
                <a:cs typeface="Times New Roman"/>
              </a:rPr>
              <a:t>Podemos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assim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representar tabelas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ou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matrizes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1860" y="1864359"/>
            <a:ext cx="2976880" cy="309880"/>
            <a:chOff x="911860" y="1864359"/>
            <a:chExt cx="2976880" cy="309880"/>
          </a:xfrm>
        </p:grpSpPr>
        <p:sp>
          <p:nvSpPr>
            <p:cNvPr id="5" name="object 5"/>
            <p:cNvSpPr/>
            <p:nvPr/>
          </p:nvSpPr>
          <p:spPr>
            <a:xfrm>
              <a:off x="9144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44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97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97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050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050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003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003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56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56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909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90900" y="18668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17472" y="1683765"/>
            <a:ext cx="259842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07365" algn="l"/>
                <a:tab pos="987425" algn="l"/>
                <a:tab pos="2457450" algn="l"/>
              </a:tabLst>
            </a:pPr>
            <a:r>
              <a:rPr sz="900" b="1" spc="-50" dirty="0">
                <a:latin typeface="Arial"/>
                <a:cs typeface="Arial"/>
              </a:rPr>
              <a:t>0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50" dirty="0">
                <a:latin typeface="Arial"/>
                <a:cs typeface="Arial"/>
              </a:rPr>
              <a:t>1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...</a:t>
            </a:r>
            <a:r>
              <a:rPr sz="900" b="1" dirty="0">
                <a:latin typeface="Arial"/>
                <a:cs typeface="Arial"/>
              </a:rPr>
              <a:t>	</a:t>
            </a:r>
            <a:r>
              <a:rPr sz="900" b="1" spc="-25" dirty="0">
                <a:latin typeface="Arial"/>
                <a:cs typeface="Arial"/>
              </a:rPr>
              <a:t>49</a:t>
            </a:r>
            <a:endParaRPr sz="900">
              <a:latin typeface="Arial"/>
              <a:cs typeface="Arial"/>
            </a:endParaRPr>
          </a:p>
          <a:p>
            <a:pPr marL="475615">
              <a:lnSpc>
                <a:spcPct val="100000"/>
              </a:lnSpc>
              <a:spcBef>
                <a:spcPts val="900"/>
              </a:spcBef>
            </a:pPr>
            <a:r>
              <a:rPr sz="900" b="1" spc="-25" dirty="0">
                <a:latin typeface="Arial"/>
                <a:cs typeface="Arial"/>
              </a:rPr>
              <a:t>99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12018" y="2169318"/>
            <a:ext cx="2976880" cy="1224280"/>
            <a:chOff x="912018" y="2169318"/>
            <a:chExt cx="2976880" cy="1224280"/>
          </a:xfrm>
        </p:grpSpPr>
        <p:sp>
          <p:nvSpPr>
            <p:cNvPr id="19" name="object 19"/>
            <p:cNvSpPr/>
            <p:nvPr/>
          </p:nvSpPr>
          <p:spPr>
            <a:xfrm>
              <a:off x="9144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144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097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097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50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050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003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003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8956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956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909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90900" y="21716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44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144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097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097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050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050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003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003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956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956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909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390900" y="24764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144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144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097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4097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050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050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4003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003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956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956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909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90900" y="27812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144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44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097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097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9050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050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4003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4003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8956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8956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909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4953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495300" y="304800"/>
                  </a:lnTo>
                  <a:lnTo>
                    <a:pt x="495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390900" y="3086099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0" y="304800"/>
                  </a:moveTo>
                  <a:lnTo>
                    <a:pt x="495300" y="30480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74319" y="191973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99974" y="2224531"/>
            <a:ext cx="596265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465" algn="r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900">
              <a:latin typeface="Arial"/>
              <a:cs typeface="Arial"/>
            </a:endParaRPr>
          </a:p>
          <a:p>
            <a:pPr marR="20320" algn="r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...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900" b="1" spc="-10" dirty="0">
                <a:latin typeface="Arial"/>
                <a:cs typeface="Arial"/>
              </a:rPr>
              <a:t>mat[0][1]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9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900" b="1" spc="-25" dirty="0">
                <a:latin typeface="Arial"/>
                <a:cs typeface="Arial"/>
              </a:rPr>
              <a:t>99</a:t>
            </a:r>
            <a:endParaRPr sz="9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93369" y="2095499"/>
            <a:ext cx="768985" cy="768985"/>
          </a:xfrm>
          <a:custGeom>
            <a:avLst/>
            <a:gdLst/>
            <a:ahLst/>
            <a:cxnLst/>
            <a:rect l="l" t="t" r="r" b="b"/>
            <a:pathLst>
              <a:path w="768985" h="768985">
                <a:moveTo>
                  <a:pt x="721613" y="33655"/>
                </a:moveTo>
                <a:lnTo>
                  <a:pt x="0" y="755269"/>
                </a:lnTo>
                <a:lnTo>
                  <a:pt x="13462" y="768731"/>
                </a:lnTo>
                <a:lnTo>
                  <a:pt x="735076" y="47117"/>
                </a:lnTo>
                <a:lnTo>
                  <a:pt x="721613" y="33655"/>
                </a:lnTo>
                <a:close/>
              </a:path>
              <a:path w="768985" h="768985">
                <a:moveTo>
                  <a:pt x="759756" y="26924"/>
                </a:moveTo>
                <a:lnTo>
                  <a:pt x="728344" y="26924"/>
                </a:lnTo>
                <a:lnTo>
                  <a:pt x="741807" y="40386"/>
                </a:lnTo>
                <a:lnTo>
                  <a:pt x="735075" y="47117"/>
                </a:lnTo>
                <a:lnTo>
                  <a:pt x="748538" y="60579"/>
                </a:lnTo>
                <a:lnTo>
                  <a:pt x="759756" y="26924"/>
                </a:lnTo>
                <a:close/>
              </a:path>
              <a:path w="768985" h="768985">
                <a:moveTo>
                  <a:pt x="728344" y="26924"/>
                </a:moveTo>
                <a:lnTo>
                  <a:pt x="721613" y="33655"/>
                </a:lnTo>
                <a:lnTo>
                  <a:pt x="735075" y="47117"/>
                </a:lnTo>
                <a:lnTo>
                  <a:pt x="741807" y="40386"/>
                </a:lnTo>
                <a:lnTo>
                  <a:pt x="728344" y="26924"/>
                </a:lnTo>
                <a:close/>
              </a:path>
              <a:path w="768985" h="768985">
                <a:moveTo>
                  <a:pt x="768731" y="0"/>
                </a:moveTo>
                <a:lnTo>
                  <a:pt x="708151" y="20193"/>
                </a:lnTo>
                <a:lnTo>
                  <a:pt x="721613" y="33655"/>
                </a:lnTo>
                <a:lnTo>
                  <a:pt x="728344" y="26924"/>
                </a:lnTo>
                <a:lnTo>
                  <a:pt x="759756" y="26924"/>
                </a:lnTo>
                <a:lnTo>
                  <a:pt x="768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135" dirty="0"/>
              <a:t> </a:t>
            </a:r>
            <a:r>
              <a:rPr spc="-10" dirty="0"/>
              <a:t>aninhadas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3784600" cy="1045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236854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Para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criar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lista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aninhada,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basta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definir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cada </a:t>
            </a:r>
            <a:r>
              <a:rPr sz="1300" spc="55" dirty="0">
                <a:latin typeface="Times New Roman"/>
                <a:cs typeface="Times New Roman"/>
              </a:rPr>
              <a:t>elemento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como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nova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55" dirty="0">
                <a:latin typeface="Times New Roman"/>
                <a:cs typeface="Times New Roman"/>
              </a:rPr>
              <a:t>Os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elementos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são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acessados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especificando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85" dirty="0">
                <a:latin typeface="Times New Roman"/>
                <a:cs typeface="Times New Roman"/>
              </a:rPr>
              <a:t>um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par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spc="10" dirty="0">
                <a:latin typeface="Times New Roman"/>
                <a:cs typeface="Times New Roman"/>
              </a:rPr>
              <a:t>colchetes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índice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para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cada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dimensão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lista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70" dirty="0">
                <a:latin typeface="Times New Roman"/>
                <a:cs typeface="Times New Roman"/>
              </a:rPr>
              <a:t>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numeração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começa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sempre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do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zero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2126449"/>
            <a:ext cx="2378837" cy="12644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137154" y="221818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2453" y="221818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28008" y="221818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931318" y="2397918"/>
          <a:ext cx="1485900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‘oi’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E6E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794254" y="2453766"/>
            <a:ext cx="89535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spc="-5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b="1" spc="-50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135" dirty="0"/>
              <a:t> </a:t>
            </a:r>
            <a:r>
              <a:rPr spc="-10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936365" cy="1228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132715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também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incluir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novas</a:t>
            </a:r>
            <a:r>
              <a:rPr sz="1300" spc="14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linhas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e</a:t>
            </a:r>
            <a:r>
              <a:rPr sz="1300" spc="6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colunas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em </a:t>
            </a:r>
            <a:r>
              <a:rPr sz="1300" dirty="0">
                <a:latin typeface="Times New Roman"/>
                <a:cs typeface="Times New Roman"/>
              </a:rPr>
              <a:t>cada</a:t>
            </a:r>
            <a:r>
              <a:rPr sz="1300" spc="16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  <a:p>
            <a:pPr marL="330200" marR="5080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Recomenda-se,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neste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caso,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usar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os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métodos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ao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invés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do 	</a:t>
            </a:r>
            <a:r>
              <a:rPr sz="1200" spc="45" dirty="0">
                <a:latin typeface="Times New Roman"/>
                <a:cs typeface="Times New Roman"/>
              </a:rPr>
              <a:t>operador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concatenação</a:t>
            </a:r>
            <a:endParaRPr sz="1200">
              <a:latin typeface="Times New Roman"/>
              <a:cs typeface="Times New Roman"/>
            </a:endParaRPr>
          </a:p>
          <a:p>
            <a:pPr marL="330200" marR="193040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20" dirty="0">
                <a:latin typeface="Times New Roman"/>
                <a:cs typeface="Times New Roman"/>
              </a:rPr>
              <a:t>Nas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listas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aninhadas,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não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é necessários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que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Times New Roman"/>
                <a:cs typeface="Times New Roman"/>
              </a:rPr>
              <a:t>as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linhas 	</a:t>
            </a:r>
            <a:r>
              <a:rPr sz="1200" spc="65" dirty="0">
                <a:latin typeface="Times New Roman"/>
                <a:cs typeface="Times New Roman"/>
              </a:rPr>
              <a:t>tenham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sempre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o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mesmo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número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colunas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24099"/>
            <a:ext cx="279323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135" dirty="0"/>
              <a:t> </a:t>
            </a:r>
            <a:r>
              <a:rPr spc="-10" dirty="0"/>
              <a:t>aninhadas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871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pc="10" dirty="0"/>
              <a:t>Podemos</a:t>
            </a:r>
            <a:r>
              <a:rPr spc="30" dirty="0"/>
              <a:t> </a:t>
            </a:r>
            <a:r>
              <a:rPr spc="10" dirty="0"/>
              <a:t>remover</a:t>
            </a:r>
            <a:r>
              <a:rPr spc="40" dirty="0"/>
              <a:t> </a:t>
            </a:r>
            <a:r>
              <a:rPr spc="85" dirty="0"/>
              <a:t>um</a:t>
            </a:r>
            <a:r>
              <a:rPr spc="25" dirty="0"/>
              <a:t> </a:t>
            </a:r>
            <a:r>
              <a:rPr spc="60" dirty="0"/>
              <a:t>ou</a:t>
            </a:r>
            <a:r>
              <a:rPr spc="50" dirty="0"/>
              <a:t> </a:t>
            </a:r>
            <a:r>
              <a:rPr spc="10" dirty="0"/>
              <a:t>mais</a:t>
            </a:r>
            <a:r>
              <a:rPr spc="5" dirty="0"/>
              <a:t> </a:t>
            </a:r>
            <a:r>
              <a:rPr spc="50" dirty="0"/>
              <a:t>elementos</a:t>
            </a:r>
            <a:r>
              <a:rPr spc="15" dirty="0"/>
              <a:t> </a:t>
            </a:r>
            <a:r>
              <a:rPr spc="60" dirty="0"/>
              <a:t>de</a:t>
            </a:r>
            <a:r>
              <a:rPr spc="35" dirty="0"/>
              <a:t> </a:t>
            </a:r>
            <a:r>
              <a:rPr spc="70" dirty="0"/>
              <a:t>uma</a:t>
            </a:r>
            <a:r>
              <a:rPr spc="30" dirty="0"/>
              <a:t> </a:t>
            </a:r>
            <a:r>
              <a:rPr spc="-10" dirty="0"/>
              <a:t>lista </a:t>
            </a:r>
            <a:r>
              <a:rPr spc="60" dirty="0"/>
              <a:t>aninhada</a:t>
            </a:r>
            <a:r>
              <a:rPr spc="10" dirty="0"/>
              <a:t> </a:t>
            </a:r>
            <a:r>
              <a:rPr spc="60" dirty="0"/>
              <a:t>de </a:t>
            </a:r>
            <a:r>
              <a:rPr spc="50" dirty="0"/>
              <a:t>maneira</a:t>
            </a:r>
            <a:r>
              <a:rPr spc="30" dirty="0"/>
              <a:t> </a:t>
            </a:r>
            <a:r>
              <a:rPr dirty="0"/>
              <a:t>similar</a:t>
            </a:r>
            <a:r>
              <a:rPr spc="-5" dirty="0"/>
              <a:t> </a:t>
            </a:r>
            <a:r>
              <a:rPr dirty="0"/>
              <a:t>as</a:t>
            </a:r>
            <a:r>
              <a:rPr spc="70" dirty="0"/>
              <a:t> </a:t>
            </a:r>
            <a:r>
              <a:rPr dirty="0"/>
              <a:t>listas</a:t>
            </a:r>
            <a:r>
              <a:rPr spc="35" dirty="0"/>
              <a:t> </a:t>
            </a:r>
            <a:r>
              <a:rPr spc="-10" dirty="0"/>
              <a:t>tradicionais</a:t>
            </a: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-235" dirty="0">
                <a:latin typeface="Times New Roman"/>
                <a:cs typeface="Times New Roman"/>
              </a:rPr>
              <a:t>1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índice: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linha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inteira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removida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índices: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elemento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linha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coluna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é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removido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500" y="1988311"/>
            <a:ext cx="2736088" cy="136448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Lista</a:t>
            </a:r>
            <a:r>
              <a:rPr spc="-135" dirty="0"/>
              <a:t> </a:t>
            </a:r>
            <a:r>
              <a:rPr spc="-10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929379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Todas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as operações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feitas</a:t>
            </a:r>
            <a:r>
              <a:rPr sz="1300" spc="2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Times New Roman"/>
                <a:cs typeface="Times New Roman"/>
              </a:rPr>
              <a:t>em</a:t>
            </a:r>
            <a:r>
              <a:rPr sz="1300" spc="6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listas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aninhadas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devem </a:t>
            </a:r>
            <a:r>
              <a:rPr sz="1300" spc="20" dirty="0">
                <a:latin typeface="Times New Roman"/>
                <a:cs typeface="Times New Roman"/>
              </a:rPr>
              <a:t>considerar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o</a:t>
            </a:r>
            <a:r>
              <a:rPr sz="1300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fato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que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temos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20" dirty="0">
                <a:latin typeface="Times New Roman"/>
                <a:cs typeface="Times New Roman"/>
              </a:rPr>
              <a:t>agora</a:t>
            </a:r>
            <a:r>
              <a:rPr sz="1300" spc="1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20" dirty="0">
                <a:latin typeface="Times New Roman"/>
                <a:cs typeface="Times New Roman"/>
              </a:rPr>
              <a:t> lista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dentro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40" dirty="0">
                <a:latin typeface="Times New Roman"/>
                <a:cs typeface="Times New Roman"/>
              </a:rPr>
              <a:t>outra</a:t>
            </a:r>
            <a:endParaRPr sz="13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671700"/>
            <a:ext cx="2693162" cy="164299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Compreensão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871" rIns="0" bIns="0" rtlCol="0">
            <a:spAutoFit/>
          </a:bodyPr>
          <a:lstStyle/>
          <a:p>
            <a:pPr marL="149225" marR="117475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pc="20" dirty="0"/>
              <a:t>Trata-se</a:t>
            </a:r>
            <a:r>
              <a:rPr spc="25" dirty="0"/>
              <a:t> </a:t>
            </a:r>
            <a:r>
              <a:rPr spc="60" dirty="0"/>
              <a:t>de</a:t>
            </a:r>
            <a:r>
              <a:rPr spc="25" dirty="0"/>
              <a:t> </a:t>
            </a:r>
            <a:r>
              <a:rPr spc="70" dirty="0"/>
              <a:t>uma</a:t>
            </a:r>
            <a:r>
              <a:rPr spc="10" dirty="0"/>
              <a:t> </a:t>
            </a:r>
            <a:r>
              <a:rPr spc="45" dirty="0"/>
              <a:t>construção</a:t>
            </a:r>
            <a:r>
              <a:rPr spc="30" dirty="0"/>
              <a:t> </a:t>
            </a:r>
            <a:r>
              <a:rPr spc="20" dirty="0"/>
              <a:t>sintática</a:t>
            </a:r>
            <a:r>
              <a:rPr spc="30" dirty="0"/>
              <a:t> </a:t>
            </a:r>
            <a:r>
              <a:rPr spc="20" dirty="0"/>
              <a:t>para</a:t>
            </a:r>
            <a:r>
              <a:rPr spc="25" dirty="0"/>
              <a:t> </a:t>
            </a:r>
            <a:r>
              <a:rPr spc="20" dirty="0"/>
              <a:t>criação </a:t>
            </a:r>
            <a:r>
              <a:rPr spc="35" dirty="0"/>
              <a:t>de </a:t>
            </a:r>
            <a:r>
              <a:rPr spc="-10" dirty="0"/>
              <a:t>listas</a:t>
            </a: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spc="10" dirty="0">
                <a:latin typeface="Times New Roman"/>
                <a:cs typeface="Times New Roman"/>
              </a:rPr>
              <a:t>Segue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a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forma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da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notação</a:t>
            </a:r>
            <a:r>
              <a:rPr sz="1200" spc="55" dirty="0">
                <a:latin typeface="Times New Roman"/>
                <a:cs typeface="Times New Roman"/>
              </a:rPr>
              <a:t> de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definição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30" dirty="0">
                <a:latin typeface="Times New Roman"/>
                <a:cs typeface="Times New Roman"/>
              </a:rPr>
              <a:t>de</a:t>
            </a:r>
            <a:endParaRPr sz="1200">
              <a:latin typeface="Times New Roman"/>
              <a:cs typeface="Times New Roman"/>
            </a:endParaRPr>
          </a:p>
          <a:p>
            <a:pPr marL="332105">
              <a:lnSpc>
                <a:spcPct val="100000"/>
              </a:lnSpc>
            </a:pPr>
            <a:r>
              <a:rPr sz="1200" spc="45" dirty="0"/>
              <a:t>conjunto</a:t>
            </a:r>
            <a:r>
              <a:rPr sz="1200" dirty="0"/>
              <a:t> </a:t>
            </a:r>
            <a:r>
              <a:rPr sz="1200" spc="35" dirty="0"/>
              <a:t>matemática</a:t>
            </a:r>
            <a:endParaRPr sz="1200"/>
          </a:p>
          <a:p>
            <a:pPr marL="330200" marR="5080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dirty="0">
                <a:latin typeface="Times New Roman"/>
                <a:cs typeface="Times New Roman"/>
              </a:rPr>
              <a:t>É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maneira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55" dirty="0">
                <a:latin typeface="Times New Roman"/>
                <a:cs typeface="Times New Roman"/>
              </a:rPr>
              <a:t>de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fazer caber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repetição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(</a:t>
            </a:r>
            <a:r>
              <a:rPr sz="1200" b="1" spc="1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),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45" dirty="0">
                <a:latin typeface="Times New Roman"/>
                <a:cs typeface="Times New Roman"/>
              </a:rPr>
              <a:t>uma 	</a:t>
            </a:r>
            <a:r>
              <a:rPr sz="1200" dirty="0">
                <a:latin typeface="Times New Roman"/>
                <a:cs typeface="Times New Roman"/>
              </a:rPr>
              <a:t>condição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b="1" dirty="0">
                <a:latin typeface="Times New Roman"/>
                <a:cs typeface="Times New Roman"/>
              </a:rPr>
              <a:t>if</a:t>
            </a:r>
            <a:r>
              <a:rPr sz="1200" dirty="0">
                <a:latin typeface="Times New Roman"/>
                <a:cs typeface="Times New Roman"/>
              </a:rPr>
              <a:t>)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tarefa,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em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única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linha</a:t>
            </a:r>
            <a:endParaRPr sz="1200">
              <a:latin typeface="Times New Roman"/>
              <a:cs typeface="Times New Roman"/>
            </a:endParaRPr>
          </a:p>
          <a:p>
            <a:pPr marL="330200" marR="476884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2105" algn="l"/>
              </a:tabLst>
            </a:pPr>
            <a:r>
              <a:rPr sz="1200" spc="10" dirty="0">
                <a:latin typeface="Times New Roman"/>
                <a:cs typeface="Times New Roman"/>
              </a:rPr>
              <a:t>Permite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50" dirty="0">
                <a:latin typeface="Times New Roman"/>
                <a:cs typeface="Times New Roman"/>
              </a:rPr>
              <a:t>mapear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e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filtrar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Times New Roman"/>
                <a:cs typeface="Times New Roman"/>
              </a:rPr>
              <a:t>lista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60" dirty="0">
                <a:latin typeface="Times New Roman"/>
                <a:cs typeface="Times New Roman"/>
              </a:rPr>
              <a:t>em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70" dirty="0">
                <a:latin typeface="Times New Roman"/>
                <a:cs typeface="Times New Roman"/>
              </a:rPr>
              <a:t>uma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única 	expressão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Compreensão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35534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Imagine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que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queremos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criar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lista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com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os </a:t>
            </a:r>
            <a:r>
              <a:rPr sz="1300" spc="50" dirty="0">
                <a:latin typeface="Times New Roman"/>
                <a:cs typeface="Times New Roman"/>
              </a:rPr>
              <a:t>quadrados</a:t>
            </a:r>
            <a:r>
              <a:rPr sz="1300" spc="55" dirty="0">
                <a:latin typeface="Times New Roman"/>
                <a:cs typeface="Times New Roman"/>
              </a:rPr>
              <a:t> de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alguns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números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874" y="2116962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Usando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compreensão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6300" y="1540674"/>
            <a:ext cx="2414905" cy="1469390"/>
            <a:chOff x="876300" y="1540674"/>
            <a:chExt cx="2414905" cy="14693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2431262"/>
              <a:ext cx="2414524" cy="5786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9148" y="1540674"/>
              <a:ext cx="1528699" cy="478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30" y="0"/>
            <a:ext cx="4573270" cy="3429000"/>
            <a:chOff x="-330" y="0"/>
            <a:chExt cx="457327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72000" cy="3429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30" y="0"/>
              <a:ext cx="4572711" cy="51028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Compreensão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1874" y="968120"/>
            <a:ext cx="381000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Imagine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agora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que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queremos </a:t>
            </a:r>
            <a:r>
              <a:rPr sz="1300" spc="10" dirty="0">
                <a:latin typeface="Times New Roman"/>
                <a:cs typeface="Times New Roman"/>
              </a:rPr>
              <a:t>filtrar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os </a:t>
            </a:r>
            <a:r>
              <a:rPr sz="1300" spc="50" dirty="0">
                <a:latin typeface="Times New Roman"/>
                <a:cs typeface="Times New Roman"/>
              </a:rPr>
              <a:t>elementos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35" dirty="0">
                <a:latin typeface="Times New Roman"/>
                <a:cs typeface="Times New Roman"/>
              </a:rPr>
              <a:t>de </a:t>
            </a:r>
            <a:r>
              <a:rPr sz="1300" spc="70" dirty="0">
                <a:latin typeface="Times New Roman"/>
                <a:cs typeface="Times New Roman"/>
              </a:rPr>
              <a:t>uma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lista</a:t>
            </a:r>
            <a:r>
              <a:rPr sz="1300" spc="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já</a:t>
            </a:r>
            <a:r>
              <a:rPr sz="1300" spc="-10" dirty="0">
                <a:latin typeface="Times New Roman"/>
                <a:cs typeface="Times New Roman"/>
              </a:rPr>
              <a:t> existente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874" y="2117597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Usando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compreensão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43000" y="1447799"/>
            <a:ext cx="2522220" cy="1669414"/>
            <a:chOff x="1143000" y="1447799"/>
            <a:chExt cx="2522220" cy="1669414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5206" y="1447799"/>
              <a:ext cx="2257424" cy="609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000" y="2438399"/>
              <a:ext cx="2521712" cy="6786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Compreensão</a:t>
            </a:r>
            <a:r>
              <a:rPr spc="-55" dirty="0"/>
              <a:t> </a:t>
            </a:r>
            <a:r>
              <a:rPr dirty="0"/>
              <a:t>de</a:t>
            </a:r>
            <a:r>
              <a:rPr spc="-50" dirty="0"/>
              <a:t> </a:t>
            </a:r>
            <a:r>
              <a:rPr spc="-20" dirty="0"/>
              <a:t>lista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67485"/>
            <a:ext cx="371411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 marR="508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225" algn="l"/>
              </a:tabLst>
            </a:pPr>
            <a:r>
              <a:rPr sz="1300" spc="10" dirty="0">
                <a:latin typeface="Times New Roman"/>
                <a:cs typeface="Times New Roman"/>
              </a:rPr>
              <a:t>Podemos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70" dirty="0">
                <a:latin typeface="Times New Roman"/>
                <a:cs typeface="Times New Roman"/>
              </a:rPr>
              <a:t>também</a:t>
            </a:r>
            <a:r>
              <a:rPr sz="1300" spc="40" dirty="0">
                <a:latin typeface="Times New Roman"/>
                <a:cs typeface="Times New Roman"/>
              </a:rPr>
              <a:t> </a:t>
            </a:r>
            <a:r>
              <a:rPr sz="1300" spc="50" dirty="0">
                <a:latin typeface="Times New Roman"/>
                <a:cs typeface="Times New Roman"/>
              </a:rPr>
              <a:t>combinar</a:t>
            </a:r>
            <a:r>
              <a:rPr sz="1300" spc="1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as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tarefas</a:t>
            </a:r>
            <a:r>
              <a:rPr sz="1300" spc="55" dirty="0">
                <a:latin typeface="Times New Roman"/>
                <a:cs typeface="Times New Roman"/>
              </a:rPr>
              <a:t> </a:t>
            </a:r>
            <a:r>
              <a:rPr sz="1300" spc="60" dirty="0">
                <a:latin typeface="Times New Roman"/>
                <a:cs typeface="Times New Roman"/>
              </a:rPr>
              <a:t>de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spc="10" dirty="0">
                <a:latin typeface="Times New Roman"/>
                <a:cs typeface="Times New Roman"/>
              </a:rPr>
              <a:t>criação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-50" dirty="0">
                <a:latin typeface="Times New Roman"/>
                <a:cs typeface="Times New Roman"/>
              </a:rPr>
              <a:t>e </a:t>
            </a:r>
            <a:r>
              <a:rPr sz="1300" spc="-10" dirty="0">
                <a:latin typeface="Times New Roman"/>
                <a:cs typeface="Times New Roman"/>
              </a:rPr>
              <a:t>filtragem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1874" y="2354706"/>
            <a:ext cx="2228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spc="10" dirty="0">
                <a:latin typeface="Times New Roman"/>
                <a:cs typeface="Times New Roman"/>
              </a:rPr>
              <a:t>Usando</a:t>
            </a:r>
            <a:r>
              <a:rPr sz="1300" spc="30" dirty="0">
                <a:latin typeface="Times New Roman"/>
                <a:cs typeface="Times New Roman"/>
              </a:rPr>
              <a:t> </a:t>
            </a:r>
            <a:r>
              <a:rPr sz="1300" spc="45" dirty="0">
                <a:latin typeface="Times New Roman"/>
                <a:cs typeface="Times New Roman"/>
              </a:rPr>
              <a:t>compreensão</a:t>
            </a:r>
            <a:r>
              <a:rPr sz="1300" spc="50" dirty="0">
                <a:latin typeface="Times New Roman"/>
                <a:cs typeface="Times New Roman"/>
              </a:rPr>
              <a:t> </a:t>
            </a:r>
            <a:r>
              <a:rPr sz="1300" spc="55" dirty="0">
                <a:latin typeface="Times New Roman"/>
                <a:cs typeface="Times New Roman"/>
              </a:rPr>
              <a:t>de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lista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1050" y="1464474"/>
            <a:ext cx="2800350" cy="1850389"/>
            <a:chOff x="781050" y="1464474"/>
            <a:chExt cx="2800350" cy="185038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156" y="1464474"/>
              <a:ext cx="1850263" cy="7072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050" y="2628899"/>
              <a:ext cx="2800350" cy="685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4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Material</a:t>
            </a:r>
            <a:r>
              <a:rPr spc="-135" dirty="0"/>
              <a:t> </a:t>
            </a:r>
            <a:r>
              <a:rPr spc="-10" dirty="0"/>
              <a:t>Complementar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1874" y="925678"/>
            <a:ext cx="2760345" cy="20231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9860" indent="-139700">
              <a:lnSpc>
                <a:spcPct val="100000"/>
              </a:lnSpc>
              <a:spcBef>
                <a:spcPts val="425"/>
              </a:spcBef>
              <a:buClr>
                <a:srgbClr val="0AD0D9"/>
              </a:buClr>
              <a:buSzPct val="92307"/>
              <a:buFont typeface="DejaVu Sans"/>
              <a:buChar char="⚫"/>
              <a:tabLst>
                <a:tab pos="149860" algn="l"/>
              </a:tabLst>
            </a:pPr>
            <a:r>
              <a:rPr sz="1300" dirty="0">
                <a:latin typeface="Times New Roman"/>
                <a:cs typeface="Times New Roman"/>
              </a:rPr>
              <a:t>Vídeo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Aulas</a:t>
            </a:r>
            <a:endParaRPr sz="13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30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Aula </a:t>
            </a:r>
            <a:r>
              <a:rPr sz="1200" spc="-100" dirty="0">
                <a:latin typeface="Times New Roman"/>
                <a:cs typeface="Times New Roman"/>
              </a:rPr>
              <a:t>16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Listas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u="sng" spc="-10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2"/>
              </a:rPr>
              <a:t>https://youtu.be/Y05YeBAFCrs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Aula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45" dirty="0">
                <a:latin typeface="Times New Roman"/>
                <a:cs typeface="Times New Roman"/>
              </a:rPr>
              <a:t>17</a:t>
            </a:r>
            <a:r>
              <a:rPr sz="1200" spc="1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Listas: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criando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sub-</a:t>
            </a:r>
            <a:r>
              <a:rPr sz="1200" spc="-10" dirty="0">
                <a:latin typeface="Times New Roman"/>
                <a:cs typeface="Times New Roman"/>
              </a:rPr>
              <a:t>listas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u="sng" spc="-10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3"/>
              </a:rPr>
              <a:t>https://youtu.be/0sdtkjISZIE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Aula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18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Listas: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operações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métodos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u="sng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4"/>
              </a:rPr>
              <a:t>https://youtu.be/ZMkN0BXd-</a:t>
            </a:r>
            <a:r>
              <a:rPr sz="1200" u="sng" spc="-25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4"/>
              </a:rPr>
              <a:t>3o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90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dirty="0">
                <a:latin typeface="Times New Roman"/>
                <a:cs typeface="Times New Roman"/>
              </a:rPr>
              <a:t>Aula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19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40" dirty="0">
                <a:latin typeface="Times New Roman"/>
                <a:cs typeface="Times New Roman"/>
              </a:rPr>
              <a:t>aninhadas</a:t>
            </a:r>
            <a:endParaRPr sz="1200">
              <a:latin typeface="Times New Roman"/>
              <a:cs typeface="Times New Roman"/>
            </a:endParaRPr>
          </a:p>
          <a:p>
            <a:pPr marL="330835" lvl="1" indent="-12192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3333"/>
              <a:buFont typeface="DejaVu Sans"/>
              <a:buChar char="⚫"/>
              <a:tabLst>
                <a:tab pos="330835" algn="l"/>
              </a:tabLst>
            </a:pPr>
            <a:r>
              <a:rPr sz="1200" u="sng" spc="50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5"/>
              </a:rPr>
              <a:t>https://youtu.be/eJHpe_-</a:t>
            </a:r>
            <a:r>
              <a:rPr sz="1200" u="sng" spc="-20" dirty="0">
                <a:solidFill>
                  <a:srgbClr val="E1D600"/>
                </a:solidFill>
                <a:uFill>
                  <a:solidFill>
                    <a:srgbClr val="E1D600"/>
                  </a:solidFill>
                </a:uFill>
                <a:latin typeface="Times New Roman"/>
                <a:cs typeface="Times New Roman"/>
                <a:hlinkClick r:id="rId5"/>
              </a:rPr>
              <a:t>izj4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1D6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1510</Words>
  <Application>Microsoft Office PowerPoint</Application>
  <PresentationFormat>Personalizado</PresentationFormat>
  <Paragraphs>239</Paragraphs>
  <Slides>41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Arial</vt:lpstr>
      <vt:lpstr>Carlito</vt:lpstr>
      <vt:lpstr>DejaVu Sans</vt:lpstr>
      <vt:lpstr>Georgia</vt:lpstr>
      <vt:lpstr>Times New Roman</vt:lpstr>
      <vt:lpstr>Office Theme</vt:lpstr>
      <vt:lpstr>Presentación de PowerPoint</vt:lpstr>
      <vt:lpstr>Por que usar listas?</vt:lpstr>
      <vt:lpstr>Listas</vt:lpstr>
      <vt:lpstr>Listas - Problema</vt:lpstr>
      <vt:lpstr>Listas - Solução</vt:lpstr>
      <vt:lpstr>Listas</vt:lpstr>
      <vt:lpstr>Listas</vt:lpstr>
      <vt:lpstr>Listas - Definição</vt:lpstr>
      <vt:lpstr>Listas - declaração</vt:lpstr>
      <vt:lpstr>Listas - declaração</vt:lpstr>
      <vt:lpstr>Lista = variável</vt:lpstr>
      <vt:lpstr>Percorrendo uma lista</vt:lpstr>
      <vt:lpstr>Percorrendo uma lista</vt:lpstr>
      <vt:lpstr>Listas - Problema</vt:lpstr>
      <vt:lpstr>Listas - Solução</vt:lpstr>
      <vt:lpstr>Listas - Solução</vt:lpstr>
      <vt:lpstr>Exercício</vt:lpstr>
      <vt:lpstr>Exercício - solução</vt:lpstr>
      <vt:lpstr>Acessando seus elementos</vt:lpstr>
      <vt:lpstr>Acessando seus elementos</vt:lpstr>
      <vt:lpstr>Acessando seus elementos</vt:lpstr>
      <vt:lpstr>Acessando seus elementos</vt:lpstr>
      <vt:lpstr>Concatenação e repetição de listas</vt:lpstr>
      <vt:lpstr>Removendo elementos da lista</vt:lpstr>
      <vt:lpstr>Copiando uma lista</vt:lpstr>
      <vt:lpstr>Copiando uma lista</vt:lpstr>
      <vt:lpstr>Copiando uma lista</vt:lpstr>
      <vt:lpstr>Procurando um elemento na lista</vt:lpstr>
      <vt:lpstr>Métodos sobre listas</vt:lpstr>
      <vt:lpstr>Métodos sobre listas</vt:lpstr>
      <vt:lpstr>Métodos sobre listas</vt:lpstr>
      <vt:lpstr>Lista aninhadas</vt:lpstr>
      <vt:lpstr>Lista aninhadas</vt:lpstr>
      <vt:lpstr>Lista aninhadas</vt:lpstr>
      <vt:lpstr>Lista aninhadas</vt:lpstr>
      <vt:lpstr>Lista aninhadas</vt:lpstr>
      <vt:lpstr>Compreensão de lista</vt:lpstr>
      <vt:lpstr>Compreensão de lista</vt:lpstr>
      <vt:lpstr>Compreensão de lista</vt:lpstr>
      <vt:lpstr>Compreensão de lista</vt:lpstr>
      <vt:lpstr>Material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Backes</dc:creator>
  <cp:lastModifiedBy>Eduardo Cunha Campos</cp:lastModifiedBy>
  <cp:revision>2</cp:revision>
  <dcterms:created xsi:type="dcterms:W3CDTF">2024-02-22T17:45:59Z</dcterms:created>
  <dcterms:modified xsi:type="dcterms:W3CDTF">2026-04-10T12:24:13Z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2022-05-30T00:00:00Z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2024-02-22T00:00:00Z</vt:filetime>
  </property>
  <property fmtid="{D5CDD505-2E9C-101B-9397-08002B2CF9AE}" pid="5" name="Producer">
    <vt:lpwstr>3-Heights(TM) PDF Security Shell 4.8.25.2 (http://www.pdf-tools.com)</vt:lpwstr>
  </property>
</Properties>
</file>