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Catamaran Medium" panose="020B0604020202020204" charset="0"/>
      <p:regular r:id="rId47"/>
      <p:bold r:id="rId48"/>
    </p:embeddedFont>
    <p:embeddedFont>
      <p:font typeface="Catamaran Thin" panose="020B0604020202020204" charset="0"/>
      <p:regular r:id="rId49"/>
      <p:bold r:id="rId50"/>
    </p:embeddedFont>
    <p:embeddedFont>
      <p:font typeface="Catamaran Light" panose="020B0604020202020204" charset="0"/>
      <p:regular r:id="rId51"/>
      <p:bold r:id="rId52"/>
    </p:embeddedFont>
    <p:embeddedFont>
      <p:font typeface="Catamaran SemiBold" panose="020B0604020202020204" charset="0"/>
      <p:regular r:id="rId53"/>
      <p:bold r:id="rId54"/>
    </p:embeddedFont>
    <p:embeddedFont>
      <p:font typeface="Catamaran" panose="020B0604020202020204" charset="0"/>
      <p:regular r:id="rId55"/>
      <p:bold r:id="rId56"/>
    </p:embeddedFont>
    <p:embeddedFont>
      <p:font typeface="Ubuntu Mono" panose="020B0604020202020204" charset="0"/>
      <p:regular r:id="rId57"/>
      <p:bold r:id="rId58"/>
      <p:italic r:id="rId59"/>
      <p:boldItalic r:id="rId60"/>
    </p:embeddedFont>
    <p:embeddedFont>
      <p:font typeface="Consolas" panose="020B0609020204030204" pitchFamily="49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2871E9-F2B4-427D-B4CD-229F300ABB48}">
  <a:tblStyle styleId="{D72871E9-F2B4-427D-B4CD-229F300ABB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2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font" Target="fonts/font21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font" Target="fonts/font22.fntdata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42612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64f4b5857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64f4b5857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848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64f4b5857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64f4b5857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5588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593bd45b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593bd45ba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783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2c6be3acc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2c6be3acc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8164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593bd45ba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593bd45ba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1187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593bd45ba5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593bd45ba5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7460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14b0f59926_0_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14b0f59926_0_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6186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593bd45ba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593bd45ba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3380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593bd45ba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593bd45ba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0037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593bd45ba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593bd45ba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6367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2c6be3acc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2c6be3acc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4401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593bd45ba5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593bd45ba5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7612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593bd45ba5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593bd45ba5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6520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593bd45ba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593bd45ba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573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14b0f59926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14b0f59926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9105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14b0f59926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14b0f59926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saber mais sobre polimorfismo em geral: https://www.geeksforgeeks.org/ad-hoc-inclusion-parametric-coercion-polymorphisms/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26084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593bd45ba5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593bd45ba5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saber mais sobre polimorfismo em geral: https://www.geeksforgeeks.org/ad-hoc-inclusion-parametric-coercion-polymorphisms/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395653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593bd45ba5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593bd45ba5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489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14b0f59926_0_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14b0f59926_0_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5512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2c6be3acc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2c6be3acc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2948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593bd45ba5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593bd45ba5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29174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593bd45ba5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593bd45ba5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63668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e3fa02b1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e3fa02b1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12075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e3fa02b17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e3fa02b17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491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2daabd76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2daabd76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73933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ff70221ee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ff70221ee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8556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593bd45ba5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593bd45ba5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6211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ff70221ee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ff70221ee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90272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ff70221ee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ff70221ee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07711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ff70221eed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ff70221eed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9512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ff70221ee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ff70221ee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55333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ff70221e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ff70221ee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5802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593bd45ba5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593bd45ba5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61527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593bd45ba5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593bd45ba5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33397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593bd45ba5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593bd45ba5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82988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593bd45ba5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593bd45ba5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15071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14782cd4e6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14782cd4e6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9686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14782cd4e6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14782cd4e6_0_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233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14782cd4e6_0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114782cd4e6_0_6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6804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14782cd4e6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14782cd4e6_0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35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1" name="Google Shape;11;p2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3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33" name="Google Shape;33;p3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52" name="Google Shape;52;p3"/>
          <p:cNvSpPr txBox="1">
            <a:spLocks noGrp="1"/>
          </p:cNvSpPr>
          <p:nvPr>
            <p:ph type="ctrTitle"/>
          </p:nvPr>
        </p:nvSpPr>
        <p:spPr>
          <a:xfrm>
            <a:off x="2305150" y="2884378"/>
            <a:ext cx="5811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subTitle" idx="1"/>
          </p:nvPr>
        </p:nvSpPr>
        <p:spPr>
          <a:xfrm>
            <a:off x="2305150" y="3385436"/>
            <a:ext cx="5811000" cy="4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chemeClr val="accen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2500800" y="285475"/>
            <a:ext cx="4142388" cy="4572547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4F0089">
              <a:alpha val="1508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239143" y="104898"/>
            <a:ext cx="665704" cy="734888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7" name="Google Shape;57;p4"/>
          <p:cNvSpPr txBox="1">
            <a:spLocks noGrp="1"/>
          </p:cNvSpPr>
          <p:nvPr>
            <p:ph type="body" idx="1"/>
          </p:nvPr>
        </p:nvSpPr>
        <p:spPr>
          <a:xfrm>
            <a:off x="2753950" y="839775"/>
            <a:ext cx="3636000" cy="363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⬢"/>
              <a:defRPr i="1">
                <a:solidFill>
                  <a:schemeClr val="lt1"/>
                </a:solidFill>
              </a:defRPr>
            </a:lvl1pPr>
            <a:lvl2pPr marL="914400" lvl="1" indent="-3302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⬡"/>
              <a:defRPr i="1">
                <a:solidFill>
                  <a:schemeClr val="lt1"/>
                </a:solidFill>
              </a:defRPr>
            </a:lvl2pPr>
            <a:lvl3pPr marL="1371600" lvl="2" indent="-3302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⬡"/>
              <a:defRPr i="1">
                <a:solidFill>
                  <a:schemeClr val="lt1"/>
                </a:solidFill>
              </a:defRPr>
            </a:lvl3pPr>
            <a:lvl4pPr marL="1828800" lvl="3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i="1">
                <a:solidFill>
                  <a:schemeClr val="lt1"/>
                </a:solidFill>
              </a:defRPr>
            </a:lvl4pPr>
            <a:lvl5pPr marL="2286000" lvl="4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i="1">
                <a:solidFill>
                  <a:schemeClr val="lt1"/>
                </a:solidFill>
              </a:defRPr>
            </a:lvl5pPr>
            <a:lvl6pPr marL="2743200" lvl="5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i="1">
                <a:solidFill>
                  <a:schemeClr val="lt1"/>
                </a:solidFill>
              </a:defRPr>
            </a:lvl6pPr>
            <a:lvl7pPr marL="3200400" lvl="6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i="1">
                <a:solidFill>
                  <a:schemeClr val="lt1"/>
                </a:solidFill>
              </a:defRPr>
            </a:lvl7pPr>
            <a:lvl8pPr marL="3657600" lvl="7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i="1">
                <a:solidFill>
                  <a:schemeClr val="lt1"/>
                </a:solidFill>
              </a:defRPr>
            </a:lvl8pPr>
            <a:lvl9pPr marL="4114800" lvl="8" indent="-381000" algn="ctr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Char char="■"/>
              <a:defRPr i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3593400" y="38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“</a:t>
            </a:r>
            <a:endParaRPr sz="9600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9" name="Google Shape;59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60" name="Google Shape;60;p4"/>
          <p:cNvSpPr/>
          <p:nvPr/>
        </p:nvSpPr>
        <p:spPr>
          <a:xfrm rot="10800000">
            <a:off x="6914577" y="-3"/>
            <a:ext cx="2002536" cy="734878"/>
          </a:xfrm>
          <a:custGeom>
            <a:avLst/>
            <a:gdLst/>
            <a:ahLst/>
            <a:cxnLst/>
            <a:rect l="l" t="t" r="r" b="b"/>
            <a:pathLst>
              <a:path w="21600" h="21175" extrusionOk="0">
                <a:moveTo>
                  <a:pt x="21600" y="21175"/>
                </a:moveTo>
                <a:lnTo>
                  <a:pt x="21600" y="20652"/>
                </a:lnTo>
                <a:cubicBezTo>
                  <a:pt x="21600" y="17251"/>
                  <a:pt x="20920" y="14109"/>
                  <a:pt x="19815" y="12409"/>
                </a:cubicBezTo>
                <a:lnTo>
                  <a:pt x="12585" y="1274"/>
                </a:lnTo>
                <a:cubicBezTo>
                  <a:pt x="11480" y="-425"/>
                  <a:pt x="10120" y="-425"/>
                  <a:pt x="9015" y="1274"/>
                </a:cubicBezTo>
                <a:lnTo>
                  <a:pt x="1785" y="12409"/>
                </a:lnTo>
                <a:cubicBezTo>
                  <a:pt x="680" y="14108"/>
                  <a:pt x="0" y="17251"/>
                  <a:pt x="0" y="20652"/>
                </a:cubicBezTo>
                <a:lnTo>
                  <a:pt x="0" y="2117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1" name="Google Shape;61;p4"/>
          <p:cNvSpPr/>
          <p:nvPr/>
        </p:nvSpPr>
        <p:spPr>
          <a:xfrm rot="10800000">
            <a:off x="2189989" y="-3"/>
            <a:ext cx="2002536" cy="734878"/>
          </a:xfrm>
          <a:custGeom>
            <a:avLst/>
            <a:gdLst/>
            <a:ahLst/>
            <a:cxnLst/>
            <a:rect l="l" t="t" r="r" b="b"/>
            <a:pathLst>
              <a:path w="21600" h="21175" extrusionOk="0">
                <a:moveTo>
                  <a:pt x="21600" y="21175"/>
                </a:moveTo>
                <a:lnTo>
                  <a:pt x="21600" y="20652"/>
                </a:lnTo>
                <a:cubicBezTo>
                  <a:pt x="21600" y="17251"/>
                  <a:pt x="20920" y="14109"/>
                  <a:pt x="19815" y="12409"/>
                </a:cubicBezTo>
                <a:lnTo>
                  <a:pt x="12585" y="1274"/>
                </a:lnTo>
                <a:cubicBezTo>
                  <a:pt x="11480" y="-425"/>
                  <a:pt x="10120" y="-425"/>
                  <a:pt x="9015" y="1274"/>
                </a:cubicBezTo>
                <a:lnTo>
                  <a:pt x="1785" y="12409"/>
                </a:lnTo>
                <a:cubicBezTo>
                  <a:pt x="680" y="14108"/>
                  <a:pt x="0" y="17251"/>
                  <a:pt x="0" y="20652"/>
                </a:cubicBezTo>
                <a:lnTo>
                  <a:pt x="0" y="2117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609650" y="4039228"/>
            <a:ext cx="2001186" cy="1104224"/>
          </a:xfrm>
          <a:custGeom>
            <a:avLst/>
            <a:gdLst/>
            <a:ahLst/>
            <a:cxnLst/>
            <a:rect l="l" t="t" r="r" b="b"/>
            <a:pathLst>
              <a:path w="21600" h="21315" extrusionOk="0">
                <a:moveTo>
                  <a:pt x="21600" y="21315"/>
                </a:moveTo>
                <a:lnTo>
                  <a:pt x="21600" y="13849"/>
                </a:lnTo>
                <a:cubicBezTo>
                  <a:pt x="21600" y="11569"/>
                  <a:pt x="20920" y="9461"/>
                  <a:pt x="19816" y="8321"/>
                </a:cubicBezTo>
                <a:lnTo>
                  <a:pt x="12585" y="855"/>
                </a:lnTo>
                <a:cubicBezTo>
                  <a:pt x="11480" y="-285"/>
                  <a:pt x="10120" y="-285"/>
                  <a:pt x="9015" y="855"/>
                </a:cubicBezTo>
                <a:lnTo>
                  <a:pt x="1785" y="8321"/>
                </a:lnTo>
                <a:cubicBezTo>
                  <a:pt x="680" y="9461"/>
                  <a:pt x="0" y="11569"/>
                  <a:pt x="0" y="13849"/>
                </a:cubicBezTo>
                <a:lnTo>
                  <a:pt x="0" y="2131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591188" y="4039228"/>
            <a:ext cx="2001186" cy="1104224"/>
          </a:xfrm>
          <a:custGeom>
            <a:avLst/>
            <a:gdLst/>
            <a:ahLst/>
            <a:cxnLst/>
            <a:rect l="l" t="t" r="r" b="b"/>
            <a:pathLst>
              <a:path w="21600" h="21315" extrusionOk="0">
                <a:moveTo>
                  <a:pt x="21600" y="21315"/>
                </a:moveTo>
                <a:lnTo>
                  <a:pt x="21600" y="13849"/>
                </a:lnTo>
                <a:cubicBezTo>
                  <a:pt x="21600" y="11569"/>
                  <a:pt x="20920" y="9461"/>
                  <a:pt x="19816" y="8321"/>
                </a:cubicBezTo>
                <a:lnTo>
                  <a:pt x="12585" y="855"/>
                </a:lnTo>
                <a:cubicBezTo>
                  <a:pt x="11480" y="-285"/>
                  <a:pt x="10120" y="-285"/>
                  <a:pt x="9015" y="855"/>
                </a:cubicBezTo>
                <a:lnTo>
                  <a:pt x="1785" y="8321"/>
                </a:lnTo>
                <a:cubicBezTo>
                  <a:pt x="680" y="9461"/>
                  <a:pt x="0" y="11569"/>
                  <a:pt x="0" y="13849"/>
                </a:cubicBezTo>
                <a:lnTo>
                  <a:pt x="0" y="2131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75251" y="3108746"/>
            <a:ext cx="1238537" cy="1367251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750099" y="2565690"/>
            <a:ext cx="1670713" cy="184417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078502" y="1646297"/>
            <a:ext cx="1238537" cy="1367197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-276225" y="372088"/>
            <a:ext cx="2001163" cy="2208980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750100" y="993931"/>
            <a:ext cx="874503" cy="965303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-211075" y="4039231"/>
            <a:ext cx="874503" cy="965303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72" name="Google Shape;72;p5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73" name="Google Shape;73;p5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84" name="Google Shape;84;p5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⬢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89" name="Google Shape;89;p6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90" name="Google Shape;90;p6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20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03" name="Google Shape;103;p6"/>
          <p:cNvSpPr txBox="1">
            <a:spLocks noGrp="1"/>
          </p:cNvSpPr>
          <p:nvPr>
            <p:ph type="body" idx="2"/>
          </p:nvPr>
        </p:nvSpPr>
        <p:spPr>
          <a:xfrm>
            <a:off x="3981304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20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107" name="Google Shape;107;p7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108" name="Google Shape;108;p7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6" name="Google Shape;116;p7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6771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2"/>
          </p:nvPr>
        </p:nvSpPr>
        <p:spPr>
          <a:xfrm>
            <a:off x="3077669" y="15035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3"/>
          </p:nvPr>
        </p:nvSpPr>
        <p:spPr>
          <a:xfrm>
            <a:off x="5376238" y="1503550"/>
            <a:ext cx="20799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18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1800"/>
            </a:lvl3pPr>
            <a:lvl4pPr marL="1828800" lvl="3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126" name="Google Shape;126;p8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127" name="Google Shape;127;p8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9"/>
          <p:cNvGrpSpPr/>
          <p:nvPr/>
        </p:nvGrpSpPr>
        <p:grpSpPr>
          <a:xfrm>
            <a:off x="-981075" y="-3"/>
            <a:ext cx="11516344" cy="5143455"/>
            <a:chOff x="-981075" y="-3"/>
            <a:chExt cx="11516344" cy="5143455"/>
          </a:xfrm>
        </p:grpSpPr>
        <p:sp>
          <p:nvSpPr>
            <p:cNvPr id="142" name="Google Shape;142;p9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3" name="Google Shape;143;p9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5" name="Google Shape;145;p9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54" name="Google Shape;154;p9"/>
          <p:cNvSpPr txBox="1">
            <a:spLocks noGrp="1"/>
          </p:cNvSpPr>
          <p:nvPr>
            <p:ph type="body" idx="1"/>
          </p:nvPr>
        </p:nvSpPr>
        <p:spPr>
          <a:xfrm>
            <a:off x="855300" y="4330100"/>
            <a:ext cx="7433400" cy="28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0"/>
              </a:spcBef>
              <a:spcAft>
                <a:spcPts val="80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4259988" y="4686556"/>
            <a:ext cx="624024" cy="456891"/>
          </a:xfrm>
          <a:custGeom>
            <a:avLst/>
            <a:gdLst/>
            <a:ahLst/>
            <a:cxnLst/>
            <a:rect l="l" t="t" r="r" b="b"/>
            <a:pathLst>
              <a:path w="21600" h="21385" extrusionOk="0">
                <a:moveTo>
                  <a:pt x="21600" y="21385"/>
                </a:moveTo>
                <a:lnTo>
                  <a:pt x="21600" y="10472"/>
                </a:lnTo>
                <a:cubicBezTo>
                  <a:pt x="21600" y="8748"/>
                  <a:pt x="20920" y="7155"/>
                  <a:pt x="19816" y="6292"/>
                </a:cubicBezTo>
                <a:lnTo>
                  <a:pt x="12585" y="647"/>
                </a:lnTo>
                <a:cubicBezTo>
                  <a:pt x="11480" y="-215"/>
                  <a:pt x="10120" y="-215"/>
                  <a:pt x="9015" y="647"/>
                </a:cubicBezTo>
                <a:lnTo>
                  <a:pt x="1785" y="6292"/>
                </a:lnTo>
                <a:cubicBezTo>
                  <a:pt x="680" y="7154"/>
                  <a:pt x="0" y="8748"/>
                  <a:pt x="0" y="10472"/>
                </a:cubicBezTo>
                <a:lnTo>
                  <a:pt x="0" y="213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0"/>
          <p:cNvGrpSpPr/>
          <p:nvPr/>
        </p:nvGrpSpPr>
        <p:grpSpPr>
          <a:xfrm>
            <a:off x="-981075" y="-3"/>
            <a:ext cx="11516344" cy="5143455"/>
            <a:chOff x="-981075" y="-3"/>
            <a:chExt cx="11516344" cy="5143455"/>
          </a:xfrm>
        </p:grpSpPr>
        <p:sp>
          <p:nvSpPr>
            <p:cNvPr id="159" name="Google Shape;159;p10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1" name="Google Shape;161;p10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2" name="Google Shape;162;p10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9" name="Google Shape;169;p10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71" name="Google Shape;171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lor background">
  <p:cSld name="BLANK_1">
    <p:bg>
      <p:bgPr>
        <a:solidFill>
          <a:schemeClr val="accen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174" name="Google Shape;174;p11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75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Light"/>
              <a:buChar char="⬢"/>
              <a:defRPr sz="24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Light"/>
              <a:buChar char="⬡"/>
              <a:defRPr sz="24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Light"/>
              <a:buChar char="⬡"/>
              <a:defRPr sz="24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Light"/>
              <a:buChar char="●"/>
              <a:defRPr sz="24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Light"/>
              <a:buChar char="○"/>
              <a:defRPr sz="24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Light"/>
              <a:buChar char="■"/>
              <a:defRPr sz="24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Light"/>
              <a:buChar char="●"/>
              <a:defRPr sz="24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Light"/>
              <a:buChar char="○"/>
              <a:defRPr sz="24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Light"/>
              <a:buChar char="■"/>
              <a:defRPr sz="24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g7fK2N1sYmhBoHAMI2oJEE7qewbF_ve-DAtZ9e9z1rM/edi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e</a:t>
            </a:r>
            <a:br>
              <a:rPr lang="en"/>
            </a:br>
            <a:r>
              <a:rPr lang="en"/>
              <a:t>classes abstratas</a:t>
            </a:r>
            <a:endParaRPr/>
          </a:p>
        </p:txBody>
      </p:sp>
      <p:pic>
        <p:nvPicPr>
          <p:cNvPr id="199" name="Google Shape;19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0878" y="3802776"/>
            <a:ext cx="617450" cy="101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2079" y="3802776"/>
            <a:ext cx="659440" cy="1017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2"/>
          <p:cNvSpPr txBox="1"/>
          <p:nvPr/>
        </p:nvSpPr>
        <p:spPr>
          <a:xfrm>
            <a:off x="702900" y="391275"/>
            <a:ext cx="35655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Programação</a:t>
            </a:r>
            <a:endParaRPr sz="300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Orientada a Objetos</a:t>
            </a:r>
            <a:endParaRPr sz="300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Catamaran Thin"/>
                <a:ea typeface="Catamaran Thin"/>
                <a:cs typeface="Catamaran Thin"/>
                <a:sym typeface="Catamaran Thin"/>
              </a:rPr>
              <a:t>(com Python)</a:t>
            </a:r>
            <a:endParaRPr sz="3000">
              <a:solidFill>
                <a:schemeClr val="lt1"/>
              </a:solidFill>
              <a:latin typeface="Catamaran Thin"/>
              <a:ea typeface="Catamaran Thin"/>
              <a:cs typeface="Catamaran Thin"/>
              <a:sym typeface="Catamaran Thin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702900" y="1758425"/>
            <a:ext cx="42075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Prof. </a:t>
            </a:r>
            <a:r>
              <a:rPr lang="en" sz="1800" smtClean="0">
                <a:solidFill>
                  <a:schemeClr val="lt1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Eduardo Campos (CEFET-MG)</a:t>
            </a:r>
            <a:endParaRPr lang="en" sz="1800" dirty="0" smtClean="0">
              <a:solidFill>
                <a:schemeClr val="lt1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pic>
        <p:nvPicPr>
          <p:cNvPr id="203" name="Google Shape;203;p12"/>
          <p:cNvPicPr preferRelativeResize="0"/>
          <p:nvPr/>
        </p:nvPicPr>
        <p:blipFill rotWithShape="1">
          <a:blip r:embed="rId5">
            <a:alphaModFix/>
          </a:blip>
          <a:srcRect l="11623" t="2846" r="32786" b="5628"/>
          <a:stretch/>
        </p:blipFill>
        <p:spPr>
          <a:xfrm>
            <a:off x="6048750" y="143775"/>
            <a:ext cx="2984898" cy="3295212"/>
          </a:xfrm>
          <a:custGeom>
            <a:avLst/>
            <a:gdLst/>
            <a:ahLst/>
            <a:cxnLst/>
            <a:rect l="l" t="t" r="r" b="b"/>
            <a:pathLst>
              <a:path w="21598" h="21456" extrusionOk="0">
                <a:moveTo>
                  <a:pt x="10800" y="0"/>
                </a:moveTo>
                <a:cubicBezTo>
                  <a:pt x="10183" y="0"/>
                  <a:pt x="9567" y="144"/>
                  <a:pt x="9014" y="430"/>
                </a:cubicBezTo>
                <a:lnTo>
                  <a:pt x="1782" y="4189"/>
                </a:lnTo>
                <a:cubicBezTo>
                  <a:pt x="678" y="4763"/>
                  <a:pt x="0" y="5821"/>
                  <a:pt x="0" y="6968"/>
                </a:cubicBezTo>
                <a:lnTo>
                  <a:pt x="0" y="14485"/>
                </a:lnTo>
                <a:cubicBezTo>
                  <a:pt x="1" y="15633"/>
                  <a:pt x="681" y="16694"/>
                  <a:pt x="1786" y="17268"/>
                </a:cubicBezTo>
                <a:lnTo>
                  <a:pt x="9018" y="21026"/>
                </a:lnTo>
                <a:cubicBezTo>
                  <a:pt x="10122" y="21600"/>
                  <a:pt x="11480" y="21600"/>
                  <a:pt x="12585" y="21026"/>
                </a:cubicBezTo>
                <a:lnTo>
                  <a:pt x="19817" y="17268"/>
                </a:lnTo>
                <a:cubicBezTo>
                  <a:pt x="20922" y="16693"/>
                  <a:pt x="21600" y="15633"/>
                  <a:pt x="21599" y="14485"/>
                </a:cubicBezTo>
                <a:lnTo>
                  <a:pt x="21599" y="6968"/>
                </a:lnTo>
                <a:cubicBezTo>
                  <a:pt x="21599" y="5820"/>
                  <a:pt x="20922" y="4762"/>
                  <a:pt x="19817" y="4189"/>
                </a:cubicBezTo>
                <a:lnTo>
                  <a:pt x="12585" y="430"/>
                </a:lnTo>
                <a:cubicBezTo>
                  <a:pt x="12033" y="144"/>
                  <a:pt x="11416" y="0"/>
                  <a:pt x="10800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é um mecanismo de linguagens OO na qual uma classe (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classe derivada</a:t>
            </a:r>
            <a:r>
              <a:rPr lang="en"/>
              <a:t>) adquire membros de outra classe (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classe base</a:t>
            </a:r>
            <a:r>
              <a:rPr lang="en"/>
              <a:t>)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</a:t>
            </a:r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body" idx="2"/>
          </p:nvPr>
        </p:nvSpPr>
        <p:spPr>
          <a:xfrm>
            <a:off x="4133700" y="3759675"/>
            <a:ext cx="2808300" cy="139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Na notação UML, representamos a herança com uma seta vazada</a:t>
            </a:r>
            <a:endParaRPr/>
          </a:p>
        </p:txBody>
      </p:sp>
      <p:pic>
        <p:nvPicPr>
          <p:cNvPr id="217" name="Google Shape;21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325" y="607400"/>
            <a:ext cx="1971325" cy="30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Nomenclatura</a:t>
            </a:r>
            <a:endParaRPr/>
          </a:p>
        </p:txBody>
      </p:sp>
      <p:sp>
        <p:nvSpPr>
          <p:cNvPr id="223" name="Google Shape;223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224" name="Google Shape;22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225" y="1499174"/>
            <a:ext cx="1503225" cy="295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" name="Google Shape;225;p15"/>
          <p:cNvGraphicFramePr/>
          <p:nvPr/>
        </p:nvGraphicFramePr>
        <p:xfrm>
          <a:off x="4735025" y="83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{D72871E9-F2B4-427D-B4CD-229F300ABB48}</a:tableStyleId>
              </a:tblPr>
              <a:tblGrid>
                <a:gridCol w="2156575"/>
                <a:gridCol w="2156575"/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Animal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dk1"/>
                          </a:solidFill>
                          <a:latin typeface="Catamaran"/>
                          <a:ea typeface="Catamaran"/>
                          <a:cs typeface="Catamaran"/>
                          <a:sym typeface="Catamaran"/>
                        </a:rPr>
                        <a:t>Gato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accent4"/>
                    </a:solidFill>
                  </a:tcPr>
                </a:tc>
              </a:tr>
              <a:tr h="54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atamaran Light"/>
                          <a:ea typeface="Catamaran Light"/>
                          <a:cs typeface="Catamaran Light"/>
                          <a:sym typeface="Catamaran Light"/>
                        </a:rPr>
                        <a:t>classe </a:t>
                      </a:r>
                      <a:r>
                        <a:rPr lang="en" sz="2200">
                          <a:solidFill>
                            <a:schemeClr val="dk1"/>
                          </a:solidFill>
                          <a:latin typeface="Catamaran Medium"/>
                          <a:ea typeface="Catamaran Medium"/>
                          <a:cs typeface="Catamaran Medium"/>
                          <a:sym typeface="Catamaran Medium"/>
                        </a:rPr>
                        <a:t>base</a:t>
                      </a:r>
                      <a:endParaRPr sz="2200">
                        <a:solidFill>
                          <a:schemeClr val="dk1"/>
                        </a:solidFill>
                        <a:latin typeface="Catamaran Medium"/>
                        <a:ea typeface="Catamaran Medium"/>
                        <a:cs typeface="Catamaran Medium"/>
                        <a:sym typeface="Catamaran Medium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atamaran Light"/>
                          <a:ea typeface="Catamaran Light"/>
                          <a:cs typeface="Catamaran Light"/>
                          <a:sym typeface="Catamaran Light"/>
                        </a:rPr>
                        <a:t>classe </a:t>
                      </a:r>
                      <a:r>
                        <a:rPr lang="en" sz="2200">
                          <a:solidFill>
                            <a:schemeClr val="dk1"/>
                          </a:solidFill>
                          <a:latin typeface="Catamaran Medium"/>
                          <a:ea typeface="Catamaran Medium"/>
                          <a:cs typeface="Catamaran Medium"/>
                          <a:sym typeface="Catamaran Medium"/>
                        </a:rPr>
                        <a:t>derivada</a:t>
                      </a:r>
                      <a:endParaRPr sz="2200">
                        <a:solidFill>
                          <a:schemeClr val="dk1"/>
                        </a:solidFill>
                        <a:latin typeface="Catamaran Light"/>
                        <a:ea typeface="Catamaran Light"/>
                        <a:cs typeface="Catamaran Light"/>
                        <a:sym typeface="Catamaran Light"/>
                      </a:endParaRPr>
                    </a:p>
                  </a:txBody>
                  <a:tcPr marL="91425" marR="91425" marT="91425" marB="91425"/>
                </a:tc>
              </a:tr>
              <a:tr h="54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atamaran Light"/>
                          <a:ea typeface="Catamaran Light"/>
                          <a:cs typeface="Catamaran Light"/>
                          <a:sym typeface="Catamaran Light"/>
                        </a:rPr>
                        <a:t>classe </a:t>
                      </a:r>
                      <a:r>
                        <a:rPr lang="en" sz="2200">
                          <a:solidFill>
                            <a:schemeClr val="dk1"/>
                          </a:solidFill>
                          <a:latin typeface="Catamaran Medium"/>
                          <a:ea typeface="Catamaran Medium"/>
                          <a:cs typeface="Catamaran Medium"/>
                          <a:sym typeface="Catamaran Medium"/>
                        </a:rPr>
                        <a:t>mãe</a:t>
                      </a:r>
                      <a:endParaRPr sz="2200">
                        <a:solidFill>
                          <a:schemeClr val="dk1"/>
                        </a:solidFill>
                        <a:latin typeface="Catamaran Light"/>
                        <a:ea typeface="Catamaran Light"/>
                        <a:cs typeface="Catamaran Light"/>
                        <a:sym typeface="Catamaran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atamaran Light"/>
                          <a:ea typeface="Catamaran Light"/>
                          <a:cs typeface="Catamaran Light"/>
                          <a:sym typeface="Catamaran Light"/>
                        </a:rPr>
                        <a:t>classe </a:t>
                      </a:r>
                      <a:r>
                        <a:rPr lang="en" sz="2200">
                          <a:solidFill>
                            <a:schemeClr val="dk1"/>
                          </a:solidFill>
                          <a:latin typeface="Catamaran Medium"/>
                          <a:ea typeface="Catamaran Medium"/>
                          <a:cs typeface="Catamaran Medium"/>
                          <a:sym typeface="Catamaran Medium"/>
                        </a:rPr>
                        <a:t>filha</a:t>
                      </a:r>
                      <a:endParaRPr sz="2200">
                        <a:solidFill>
                          <a:schemeClr val="dk1"/>
                        </a:solidFill>
                        <a:latin typeface="Catamaran Light"/>
                        <a:ea typeface="Catamaran Light"/>
                        <a:cs typeface="Catamaran Light"/>
                        <a:sym typeface="Catamaran Light"/>
                      </a:endParaRPr>
                    </a:p>
                  </a:txBody>
                  <a:tcPr marL="91425" marR="91425" marT="91425" marB="91425"/>
                </a:tc>
              </a:tr>
              <a:tr h="54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atamaran Medium"/>
                          <a:ea typeface="Catamaran Medium"/>
                          <a:cs typeface="Catamaran Medium"/>
                          <a:sym typeface="Catamaran Medium"/>
                        </a:rPr>
                        <a:t>superclasse</a:t>
                      </a:r>
                      <a:endParaRPr sz="2200">
                        <a:solidFill>
                          <a:schemeClr val="dk1"/>
                        </a:solidFill>
                        <a:latin typeface="Catamaran Light"/>
                        <a:ea typeface="Catamaran Light"/>
                        <a:cs typeface="Catamaran Light"/>
                        <a:sym typeface="Catamaran Ligh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atamaran Medium"/>
                          <a:ea typeface="Catamaran Medium"/>
                          <a:cs typeface="Catamaran Medium"/>
                          <a:sym typeface="Catamaran Medium"/>
                        </a:rPr>
                        <a:t>subclasse</a:t>
                      </a:r>
                      <a:endParaRPr sz="2200">
                        <a:solidFill>
                          <a:schemeClr val="dk1"/>
                        </a:solidFill>
                        <a:latin typeface="Catamaran Light"/>
                        <a:ea typeface="Catamaran Light"/>
                        <a:cs typeface="Catamaran Light"/>
                        <a:sym typeface="Catamaran Light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226" name="Google Shape;226;p15"/>
          <p:cNvSpPr txBox="1">
            <a:spLocks noGrp="1"/>
          </p:cNvSpPr>
          <p:nvPr>
            <p:ph type="body" idx="2"/>
          </p:nvPr>
        </p:nvSpPr>
        <p:spPr>
          <a:xfrm>
            <a:off x="4743300" y="3232125"/>
            <a:ext cx="2808300" cy="146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Dizemos que:</a:t>
            </a:r>
            <a:endParaRPr/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⬢"/>
            </a:pPr>
            <a:r>
              <a:rPr lang="en"/>
              <a:t>Gato 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herda</a:t>
            </a:r>
            <a:r>
              <a:rPr lang="en"/>
              <a:t> de Animal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⬢"/>
            </a:pPr>
            <a:r>
              <a:rPr lang="en"/>
              <a:t>Gato 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deriva</a:t>
            </a:r>
            <a:r>
              <a:rPr lang="en"/>
              <a:t> de Animal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⬢"/>
            </a:pPr>
            <a:r>
              <a:rPr lang="en"/>
              <a:t>Gato 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estende</a:t>
            </a:r>
            <a:r>
              <a:rPr lang="en"/>
              <a:t> Animal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em Python</a:t>
            </a:r>
            <a:endParaRPr/>
          </a:p>
        </p:txBody>
      </p:sp>
      <p:sp>
        <p:nvSpPr>
          <p:cNvPr id="232" name="Google Shape;232;p16"/>
          <p:cNvSpPr txBox="1">
            <a:spLocks noGrp="1"/>
          </p:cNvSpPr>
          <p:nvPr>
            <p:ph type="body" idx="2"/>
          </p:nvPr>
        </p:nvSpPr>
        <p:spPr>
          <a:xfrm>
            <a:off x="933304" y="1503550"/>
            <a:ext cx="2808300" cy="32685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Ao declarar uma classe, escreva o nome de outra classe entre parênteses para estendê-la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No exemplo, Gato herdou o 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construtor</a:t>
            </a:r>
            <a:r>
              <a:rPr lang="en"/>
              <a:t> e o método 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anda</a:t>
            </a:r>
            <a:r>
              <a:rPr lang="en"/>
              <a:t> da classe Animal</a:t>
            </a:r>
            <a:endParaRPr/>
          </a:p>
        </p:txBody>
      </p:sp>
      <p:sp>
        <p:nvSpPr>
          <p:cNvPr id="233" name="Google Shape;233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34" name="Google Shape;234;p16"/>
          <p:cNvSpPr txBox="1">
            <a:spLocks noGrp="1"/>
          </p:cNvSpPr>
          <p:nvPr>
            <p:ph type="body" idx="1"/>
          </p:nvPr>
        </p:nvSpPr>
        <p:spPr>
          <a:xfrm>
            <a:off x="5236675" y="410700"/>
            <a:ext cx="3868800" cy="32685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6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:</a:t>
            </a:r>
            <a:endParaRPr sz="165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6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6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__init__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6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6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65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6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6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6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endParaRPr sz="165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6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6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6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65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6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6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'andando'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65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6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6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65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6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pass</a:t>
            </a:r>
            <a:endParaRPr sz="1650">
              <a:solidFill>
                <a:srgbClr val="AF00DB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6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6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"Mingau"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65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6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6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65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6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65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()</a:t>
            </a:r>
            <a:endParaRPr sz="235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6317625" y="2700871"/>
            <a:ext cx="777900" cy="2598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933300" y="4315700"/>
            <a:ext cx="3377100" cy="400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89828F"/>
            </a:solidFill>
            <a:prstDash val="dot"/>
            <a:round/>
            <a:headEnd type="none" w="sm" len="sm"/>
            <a:tailEnd type="none" w="sm" len="sm"/>
          </a:ln>
          <a:effectLst>
            <a:outerShdw blurRad="71438" dist="66675" dir="3000000" algn="bl" rotWithShape="0">
              <a:srgbClr val="89828F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210635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Exercício: adicione métodos à classe Animal</a:t>
            </a:r>
            <a:endParaRPr strike="sngStrike">
              <a:solidFill>
                <a:srgbClr val="210635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você pode fazer na classe derivada</a:t>
            </a:r>
            <a:endParaRPr/>
          </a:p>
        </p:txBody>
      </p:sp>
      <p:sp>
        <p:nvSpPr>
          <p:cNvPr id="242" name="Google Shape;242;p17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52932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✅ </a:t>
            </a: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Acessar atributos e métodos herdados</a:t>
            </a:r>
            <a:endParaRPr>
              <a:latin typeface="Catamaran SemiBold"/>
              <a:ea typeface="Catamaran SemiBold"/>
              <a:cs typeface="Catamaran SemiBold"/>
              <a:sym typeface="Catamaran SemiBold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✅ </a:t>
            </a: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Adicionar novos atributos e métodos</a:t>
            </a:r>
            <a:endParaRPr>
              <a:latin typeface="Catamaran SemiBold"/>
              <a:ea typeface="Catamaran SemiBold"/>
              <a:cs typeface="Catamaran SemiBold"/>
              <a:sym typeface="Catamaran SemiBold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✅ </a:t>
            </a: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Redefinir (sobrepor) métodos herdados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❌ </a:t>
            </a: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Remover membros herdados: </a:t>
            </a:r>
            <a:r>
              <a:rPr lang="en" u="sng">
                <a:latin typeface="Catamaran SemiBold"/>
                <a:ea typeface="Catamaran SemiBold"/>
                <a:cs typeface="Catamaran SemiBold"/>
                <a:sym typeface="Catamaran SemiBold"/>
              </a:rPr>
              <a:t>não pode</a:t>
            </a:r>
            <a:endParaRPr u="sng"/>
          </a:p>
        </p:txBody>
      </p:sp>
      <p:sp>
        <p:nvSpPr>
          <p:cNvPr id="243" name="Google Shape;24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Ocorre quando uma subclasse fornece uma nova implementação para um método herdado</a:t>
            </a:r>
            <a:endParaRPr/>
          </a:p>
          <a:p>
            <a:pPr marL="0" lvl="0" indent="45720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>
                <a:latin typeface="Catamaran"/>
                <a:ea typeface="Catamaran"/>
                <a:cs typeface="Catamaran"/>
                <a:sym typeface="Catamaran"/>
              </a:rPr>
              <a:t>Override</a:t>
            </a:r>
            <a:r>
              <a:rPr lang="en"/>
              <a:t> = sobrepor, passar por cima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/>
              <a:t>OBS.: É mais comum traduzir </a:t>
            </a:r>
            <a:r>
              <a:rPr lang="en" sz="1600" i="1"/>
              <a:t>override</a:t>
            </a:r>
            <a:r>
              <a:rPr lang="en" sz="1600"/>
              <a:t> como sobrescrever (o que é um equívoco, pois essa seria a tradução de </a:t>
            </a:r>
            <a:r>
              <a:rPr lang="en" sz="1600" i="1"/>
              <a:t>overwrite</a:t>
            </a:r>
            <a:r>
              <a:rPr lang="en" sz="1600"/>
              <a:t>). Note que o método original não deixa de existir, então não se trata de sobrescrever.</a:t>
            </a:r>
            <a:endParaRPr sz="1600"/>
          </a:p>
        </p:txBody>
      </p:sp>
      <p:sp>
        <p:nvSpPr>
          <p:cNvPr id="249" name="Google Shape;249;p18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Sobreposição (override)</a:t>
            </a:r>
            <a:endParaRPr/>
          </a:p>
        </p:txBody>
      </p:sp>
      <p:sp>
        <p:nvSpPr>
          <p:cNvPr id="250" name="Google Shape;250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Sobreposição em Python</a:t>
            </a:r>
            <a:endParaRPr/>
          </a:p>
        </p:txBody>
      </p:sp>
      <p:sp>
        <p:nvSpPr>
          <p:cNvPr id="256" name="Google Shape;256;p19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No exemplo, 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/>
              <a:t> sobrepõe o método 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/>
              <a:t> da classe 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endParaRPr/>
          </a:p>
        </p:txBody>
      </p:sp>
      <p:sp>
        <p:nvSpPr>
          <p:cNvPr id="257" name="Google Shape;257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5480575" y="139325"/>
            <a:ext cx="3000000" cy="54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__init__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endParaRPr sz="1550">
              <a:solidFill>
                <a:srgbClr val="00108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'andando'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'engatinhando'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"Mingau"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5806750" y="3060806"/>
            <a:ext cx="2576100" cy="6663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Em alguns casos queremos que a nova implementação de um método sobreposto chame a implementação original da superclasse; esta pode ser acessada com </a:t>
            </a:r>
            <a:r>
              <a:rPr lang="en">
                <a:latin typeface="Ubuntu Mono"/>
                <a:ea typeface="Ubuntu Mono"/>
                <a:cs typeface="Ubuntu Mono"/>
                <a:sym typeface="Ubuntu Mono"/>
              </a:rPr>
              <a:t>super()</a:t>
            </a:r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super()</a:t>
            </a:r>
            <a:endParaRPr/>
          </a:p>
        </p:txBody>
      </p:sp>
      <p:sp>
        <p:nvSpPr>
          <p:cNvPr id="266" name="Google Shape;266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5969875" y="3857838"/>
            <a:ext cx="904200" cy="3936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5124300" y="410575"/>
            <a:ext cx="4202700" cy="4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__init__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endParaRPr sz="1550">
              <a:solidFill>
                <a:srgbClr val="00108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'andando'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/>
            </a:r>
            <a:br>
              <a:rPr lang="en" sz="18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</a:br>
            <a:r>
              <a:rPr lang="en" sz="18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8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8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8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  </a:t>
            </a:r>
            <a:r>
              <a:rPr lang="en" sz="18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8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8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8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8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super</a:t>
            </a: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().anda()</a:t>
            </a:r>
            <a:endParaRPr sz="18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8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8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'engatinhando'</a:t>
            </a:r>
            <a:r>
              <a:rPr lang="en" sz="18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225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779100" y="4066525"/>
            <a:ext cx="4498200" cy="895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89828F"/>
            </a:solidFill>
            <a:prstDash val="dot"/>
            <a:round/>
            <a:headEnd type="none" w="sm" len="sm"/>
            <a:tailEnd type="none" w="sm" len="sm"/>
          </a:ln>
          <a:effectLst>
            <a:outerShdw blurRad="71438" dist="66675" dir="3000000" algn="bl" rotWithShape="0">
              <a:srgbClr val="89828F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rgbClr val="210635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Exercício: crie uma classe Relatorio, com método imprime, e uma subclasse RelatorioProtegido, que recebe um usuário e só permite imprimir o relatório se o usuário for admin.</a:t>
            </a:r>
            <a:endParaRPr strike="sngStrike">
              <a:solidFill>
                <a:srgbClr val="210635"/>
              </a:solidFill>
              <a:latin typeface="Catamaran Medium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7152525" y="2072125"/>
            <a:ext cx="1283625" cy="1994400"/>
          </a:xfrm>
          <a:custGeom>
            <a:avLst/>
            <a:gdLst/>
            <a:ahLst/>
            <a:cxnLst/>
            <a:rect l="l" t="t" r="r" b="b"/>
            <a:pathLst>
              <a:path w="51345" h="79776" extrusionOk="0">
                <a:moveTo>
                  <a:pt x="24599" y="79776"/>
                </a:moveTo>
                <a:cubicBezTo>
                  <a:pt x="28984" y="70477"/>
                  <a:pt x="55009" y="37278"/>
                  <a:pt x="50909" y="23982"/>
                </a:cubicBezTo>
                <a:cubicBezTo>
                  <a:pt x="46809" y="10686"/>
                  <a:pt x="8485" y="3997"/>
                  <a:pt x="0" y="0"/>
                </a:cubicBezTo>
              </a:path>
            </a:pathLst>
          </a:custGeom>
          <a:noFill/>
          <a:ln w="28575" cap="flat" cmpd="sng">
            <a:solidFill>
              <a:srgbClr val="A31515"/>
            </a:solidFill>
            <a:prstDash val="solid"/>
            <a:round/>
            <a:headEnd type="none" w="med" len="med"/>
            <a:tailEnd type="stealth" w="med" len="me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É uma boa prática chamar o construtor da superclasse, pois ele inicializa os atributos definidos na superclasse</a:t>
            </a:r>
            <a:endParaRPr/>
          </a:p>
        </p:txBody>
      </p:sp>
      <p:sp>
        <p:nvSpPr>
          <p:cNvPr id="276" name="Google Shape;276;p2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super().__init__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4057500" y="410575"/>
            <a:ext cx="48276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7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:</a:t>
            </a:r>
            <a:endParaRPr sz="17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7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7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__init__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7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endParaRPr sz="1750">
              <a:solidFill>
                <a:srgbClr val="00108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7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7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7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7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7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__init__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7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7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super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().</a:t>
            </a:r>
            <a:r>
              <a:rPr lang="en" sz="17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__init__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+ </a:t>
            </a:r>
            <a:r>
              <a:rPr lang="en" sz="17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" Miau"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7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vidas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750">
                <a:solidFill>
                  <a:srgbClr val="098658"/>
                </a:solidFill>
                <a:latin typeface="Ubuntu Mono"/>
                <a:ea typeface="Ubuntu Mono"/>
                <a:cs typeface="Ubuntu Mono"/>
                <a:sym typeface="Ubuntu Mono"/>
              </a:rPr>
              <a:t>7</a:t>
            </a:r>
            <a:endParaRPr sz="1750">
              <a:solidFill>
                <a:srgbClr val="098658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7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7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"Mingau"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7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7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nome</a:t>
            </a:r>
            <a:r>
              <a:rPr lang="en" sz="17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245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78" name="Google Shape;278;p2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 object</a:t>
            </a:r>
            <a:endParaRPr/>
          </a:p>
        </p:txBody>
      </p:sp>
      <p:sp>
        <p:nvSpPr>
          <p:cNvPr id="284" name="Google Shape;284;p22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Toda classe declarada sem declaração de herança está implicitamente herdando da classe </a:t>
            </a:r>
            <a:r>
              <a:rPr lang="en">
                <a:latin typeface="Catamaran SemiBold"/>
                <a:ea typeface="Catamaran SemiBold"/>
                <a:cs typeface="Catamaran SemiBold"/>
                <a:sym typeface="Catamaran SemiBold"/>
              </a:rPr>
              <a:t>object</a:t>
            </a:r>
            <a:endParaRPr>
              <a:latin typeface="Catamaran SemiBold"/>
              <a:ea typeface="Catamaran SemiBold"/>
              <a:cs typeface="Catamaran SemiBold"/>
              <a:sym typeface="Catamaran SemiBol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atamaran SemiBold"/>
              <a:buChar char="⬢"/>
            </a:pPr>
            <a:r>
              <a:rPr lang="en"/>
              <a:t>Métodos como __eq__ e __str__ são herdados de object e podem ser sobrepostos</a:t>
            </a:r>
            <a:endParaRPr>
              <a:latin typeface="Catamaran SemiBold"/>
              <a:ea typeface="Catamaran SemiBold"/>
              <a:cs typeface="Catamaran SemiBold"/>
              <a:sym typeface="Catamaran SemiBold"/>
            </a:endParaRPr>
          </a:p>
        </p:txBody>
      </p:sp>
      <p:sp>
        <p:nvSpPr>
          <p:cNvPr id="285" name="Google Shape;285;p2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herança define uma relação de 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subtipo</a:t>
            </a:r>
            <a:r>
              <a:rPr lang="en"/>
              <a:t>. No exemplo, Gato é um subtipo de Animal, ou seja, toda instância de Gato é também instância de Animal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Dizemos, ainda, que</a:t>
            </a:r>
            <a:br>
              <a:rPr lang="en"/>
            </a:br>
            <a:r>
              <a:rPr lang="en"/>
              <a:t>todo gato 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é um</a:t>
            </a:r>
            <a:r>
              <a:rPr lang="en"/>
              <a:t> animal</a:t>
            </a:r>
            <a:endParaRPr/>
          </a:p>
        </p:txBody>
      </p:sp>
      <p:sp>
        <p:nvSpPr>
          <p:cNvPr id="291" name="Google Shape;291;p2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e subtipo (é-um)</a:t>
            </a:r>
            <a:endParaRPr/>
          </a:p>
        </p:txBody>
      </p:sp>
      <p:sp>
        <p:nvSpPr>
          <p:cNvPr id="292" name="Google Shape;292;p2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4243200" y="1598000"/>
            <a:ext cx="3432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: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pass</a:t>
            </a:r>
            <a:endParaRPr sz="1450">
              <a:solidFill>
                <a:srgbClr val="AF00DB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pass</a:t>
            </a:r>
            <a:endParaRPr sz="1450">
              <a:solidFill>
                <a:srgbClr val="AF00DB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()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isinstance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))   </a:t>
            </a:r>
            <a:r>
              <a:rPr lang="en" sz="1450">
                <a:solidFill>
                  <a:srgbClr val="008000"/>
                </a:solidFill>
                <a:latin typeface="Ubuntu Mono"/>
                <a:ea typeface="Ubuntu Mono"/>
                <a:cs typeface="Ubuntu Mono"/>
                <a:sym typeface="Ubuntu Mono"/>
              </a:rPr>
              <a:t># True</a:t>
            </a:r>
            <a:endParaRPr sz="1450">
              <a:solidFill>
                <a:srgbClr val="008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isinstance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)) </a:t>
            </a:r>
            <a:r>
              <a:rPr lang="en" sz="1450">
                <a:solidFill>
                  <a:srgbClr val="008000"/>
                </a:solidFill>
                <a:latin typeface="Ubuntu Mono"/>
                <a:ea typeface="Ubuntu Mono"/>
                <a:cs typeface="Ubuntu Mono"/>
                <a:sym typeface="Ubuntu Mono"/>
              </a:rPr>
              <a:t># True</a:t>
            </a:r>
            <a:endParaRPr sz="1450">
              <a:solidFill>
                <a:srgbClr val="008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isinstance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g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object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)) </a:t>
            </a:r>
            <a:r>
              <a:rPr lang="en" sz="1450">
                <a:solidFill>
                  <a:srgbClr val="008000"/>
                </a:solidFill>
                <a:latin typeface="Ubuntu Mono"/>
                <a:ea typeface="Ubuntu Mono"/>
                <a:cs typeface="Ubuntu Mono"/>
                <a:sym typeface="Ubuntu Mono"/>
              </a:rPr>
              <a:t># True</a:t>
            </a:r>
            <a:endParaRPr sz="1450">
              <a:solidFill>
                <a:srgbClr val="008000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Em Python uma classe pode derivar de mais de uma classe (basta escrever a lista de classes separadas por vírgula), o que chamamos de herança múltipla (em Java, por exemplo, isso não é possível).</a:t>
            </a:r>
            <a:endParaRPr/>
          </a:p>
        </p:txBody>
      </p:sp>
      <p:sp>
        <p:nvSpPr>
          <p:cNvPr id="299" name="Google Shape;299;p24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múltipla</a:t>
            </a:r>
            <a:endParaRPr/>
          </a:p>
        </p:txBody>
      </p:sp>
      <p:sp>
        <p:nvSpPr>
          <p:cNvPr id="300" name="Google Shape;300;p2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01" name="Google Shape;301;p24"/>
          <p:cNvSpPr txBox="1">
            <a:spLocks noGrp="1"/>
          </p:cNvSpPr>
          <p:nvPr>
            <p:ph type="body" idx="2"/>
          </p:nvPr>
        </p:nvSpPr>
        <p:spPr>
          <a:xfrm>
            <a:off x="3981304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Não vamos abordar herança múltipla nesta disciplina.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Polimorfismo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Conceito: polimorfismo</a:t>
            </a:r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Do grego, </a:t>
            </a:r>
            <a:r>
              <a:rPr lang="en" i="1"/>
              <a:t>que tem muitas formas</a:t>
            </a:r>
            <a:endParaRPr i="1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Ideia de que um símbolo pode representar coisas diferentes a depender do contexto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Exemplo em linguagem natural (polissemia):</a:t>
            </a:r>
            <a:br>
              <a:rPr lang="en"/>
            </a:br>
            <a:r>
              <a:rPr lang="en"/>
              <a:t>vela </a:t>
            </a:r>
            <a:r>
              <a:rPr lang="en">
                <a:solidFill>
                  <a:schemeClr val="dk2"/>
                </a:solidFill>
              </a:rPr>
              <a:t>(de barco)</a:t>
            </a:r>
            <a:r>
              <a:rPr lang="en"/>
              <a:t>, vela </a:t>
            </a:r>
            <a:r>
              <a:rPr lang="en">
                <a:solidFill>
                  <a:schemeClr val="dk2"/>
                </a:solidFill>
              </a:rPr>
              <a:t>(de bolo)</a:t>
            </a:r>
            <a:endParaRPr/>
          </a:p>
        </p:txBody>
      </p:sp>
      <p:sp>
        <p:nvSpPr>
          <p:cNvPr id="313" name="Google Shape;313;p2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7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Polimorfismo de subtipo</a:t>
            </a:r>
            <a:endParaRPr/>
          </a:p>
        </p:txBody>
      </p:sp>
      <p:sp>
        <p:nvSpPr>
          <p:cNvPr id="319" name="Google Shape;319;p2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6029275" y="332975"/>
            <a:ext cx="3000000" cy="43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'andando'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'engatinhando'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passeia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for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i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in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range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98658"/>
                </a:solidFill>
                <a:latin typeface="Ubuntu Mono"/>
                <a:ea typeface="Ubuntu Mono"/>
                <a:cs typeface="Ubuntu Mono"/>
                <a:sym typeface="Ubuntu Mono"/>
              </a:rPr>
              <a:t>5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.anda()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21" name="Google Shape;321;p27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52503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No código ao lado,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animal.anda()</a:t>
            </a:r>
            <a:r>
              <a:rPr lang="en" sz="2200"/>
              <a:t> pode se referir ao método de cima ou ao método de baixo, pois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2200"/>
              <a:t> pode ser um objeto da classe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2200"/>
              <a:t> ou de uma de suas subclasses*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/>
              <a:t>Se determinado código manipula objetos de uma classe, ele também deve funcionar com objetos de subclasses*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* de forma geral, classes descendentes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8198750" y="2921500"/>
            <a:ext cx="376200" cy="1553350"/>
          </a:xfrm>
          <a:custGeom>
            <a:avLst/>
            <a:gdLst/>
            <a:ahLst/>
            <a:cxnLst/>
            <a:rect l="l" t="t" r="r" b="b"/>
            <a:pathLst>
              <a:path w="15048" h="62134" extrusionOk="0">
                <a:moveTo>
                  <a:pt x="0" y="62134"/>
                </a:moveTo>
                <a:cubicBezTo>
                  <a:pt x="2469" y="56373"/>
                  <a:pt x="13373" y="37925"/>
                  <a:pt x="14813" y="27569"/>
                </a:cubicBezTo>
                <a:cubicBezTo>
                  <a:pt x="16253" y="17213"/>
                  <a:pt x="9670" y="4595"/>
                  <a:pt x="8641" y="0"/>
                </a:cubicBezTo>
              </a:path>
            </a:pathLst>
          </a:custGeom>
          <a:noFill/>
          <a:ln w="28575" cap="flat" cmpd="sng">
            <a:solidFill>
              <a:srgbClr val="A31515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323" name="Google Shape;323;p27"/>
          <p:cNvSpPr/>
          <p:nvPr/>
        </p:nvSpPr>
        <p:spPr>
          <a:xfrm>
            <a:off x="8219325" y="1172725"/>
            <a:ext cx="839225" cy="3332975"/>
          </a:xfrm>
          <a:custGeom>
            <a:avLst/>
            <a:gdLst/>
            <a:ahLst/>
            <a:cxnLst/>
            <a:rect l="l" t="t" r="r" b="b"/>
            <a:pathLst>
              <a:path w="33569" h="133319" extrusionOk="0">
                <a:moveTo>
                  <a:pt x="0" y="133319"/>
                </a:moveTo>
                <a:cubicBezTo>
                  <a:pt x="5555" y="120015"/>
                  <a:pt x="31409" y="75712"/>
                  <a:pt x="33329" y="53492"/>
                </a:cubicBezTo>
                <a:cubicBezTo>
                  <a:pt x="35249" y="31272"/>
                  <a:pt x="15156" y="8915"/>
                  <a:pt x="11521" y="0"/>
                </a:cubicBezTo>
              </a:path>
            </a:pathLst>
          </a:custGeom>
          <a:noFill/>
          <a:ln w="28575" cap="flat" cmpd="sng">
            <a:solidFill>
              <a:srgbClr val="A31515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324" name="Google Shape;324;p27"/>
          <p:cNvSpPr/>
          <p:nvPr/>
        </p:nvSpPr>
        <p:spPr>
          <a:xfrm>
            <a:off x="7452201" y="4310264"/>
            <a:ext cx="674400" cy="3012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7"/>
          <p:cNvSpPr/>
          <p:nvPr/>
        </p:nvSpPr>
        <p:spPr>
          <a:xfrm>
            <a:off x="6370172" y="2158390"/>
            <a:ext cx="2517900" cy="7014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7"/>
          <p:cNvSpPr/>
          <p:nvPr/>
        </p:nvSpPr>
        <p:spPr>
          <a:xfrm>
            <a:off x="6370175" y="757475"/>
            <a:ext cx="2065200" cy="7014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Duck typing</a:t>
            </a:r>
            <a:endParaRPr/>
          </a:p>
        </p:txBody>
      </p:sp>
      <p:sp>
        <p:nvSpPr>
          <p:cNvPr id="332" name="Google Shape;332;p2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33" name="Google Shape;333;p28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52503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200"/>
              <a:t>Em Python e outras linguagens de tipagem dinâmica, não importa o tipo do objeto, e sim quais métodos e atributos ele define. Isso significa que a função 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passeia</a:t>
            </a:r>
            <a:r>
              <a:rPr lang="en" sz="2200"/>
              <a:t> funciona com qualquer objeto que possua o método </a:t>
            </a: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anda()</a:t>
            </a:r>
            <a:r>
              <a:rPr lang="en" sz="2200"/>
              <a:t>, independentemente de seu tipo.</a:t>
            </a:r>
            <a:endParaRPr sz="2200"/>
          </a:p>
        </p:txBody>
      </p:sp>
      <p:sp>
        <p:nvSpPr>
          <p:cNvPr id="334" name="Google Shape;334;p28"/>
          <p:cNvSpPr txBox="1"/>
          <p:nvPr/>
        </p:nvSpPr>
        <p:spPr>
          <a:xfrm>
            <a:off x="6029275" y="332975"/>
            <a:ext cx="3000000" cy="47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'andando'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Robo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anda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'tac-tac-tac'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 b="1" u="sng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passeia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for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i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in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range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98658"/>
                </a:solidFill>
                <a:latin typeface="Ubuntu Mono"/>
                <a:ea typeface="Ubuntu Mono"/>
                <a:cs typeface="Ubuntu Mono"/>
                <a:sym typeface="Ubuntu Mono"/>
              </a:rPr>
              <a:t>5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.anda()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5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8188450" y="2921500"/>
            <a:ext cx="386175" cy="1213875"/>
          </a:xfrm>
          <a:custGeom>
            <a:avLst/>
            <a:gdLst/>
            <a:ahLst/>
            <a:cxnLst/>
            <a:rect l="l" t="t" r="r" b="b"/>
            <a:pathLst>
              <a:path w="15447" h="48555" extrusionOk="0">
                <a:moveTo>
                  <a:pt x="0" y="48555"/>
                </a:moveTo>
                <a:cubicBezTo>
                  <a:pt x="2538" y="45057"/>
                  <a:pt x="13716" y="35662"/>
                  <a:pt x="15225" y="27569"/>
                </a:cubicBezTo>
                <a:cubicBezTo>
                  <a:pt x="16734" y="19477"/>
                  <a:pt x="10082" y="4595"/>
                  <a:pt x="9053" y="0"/>
                </a:cubicBezTo>
              </a:path>
            </a:pathLst>
          </a:custGeom>
          <a:noFill/>
          <a:ln w="28575" cap="flat" cmpd="sng">
            <a:solidFill>
              <a:srgbClr val="A31515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336" name="Google Shape;336;p28"/>
          <p:cNvSpPr/>
          <p:nvPr/>
        </p:nvSpPr>
        <p:spPr>
          <a:xfrm>
            <a:off x="8219325" y="1172725"/>
            <a:ext cx="908150" cy="2952350"/>
          </a:xfrm>
          <a:custGeom>
            <a:avLst/>
            <a:gdLst/>
            <a:ahLst/>
            <a:cxnLst/>
            <a:rect l="l" t="t" r="r" b="b"/>
            <a:pathLst>
              <a:path w="36326" h="118094" extrusionOk="0">
                <a:moveTo>
                  <a:pt x="0" y="118094"/>
                </a:moveTo>
                <a:cubicBezTo>
                  <a:pt x="6035" y="109865"/>
                  <a:pt x="34290" y="88399"/>
                  <a:pt x="36210" y="68717"/>
                </a:cubicBezTo>
                <a:cubicBezTo>
                  <a:pt x="38130" y="49035"/>
                  <a:pt x="15636" y="11453"/>
                  <a:pt x="11521" y="0"/>
                </a:cubicBezTo>
              </a:path>
            </a:pathLst>
          </a:custGeom>
          <a:noFill/>
          <a:ln w="28575" cap="flat" cmpd="sng">
            <a:solidFill>
              <a:srgbClr val="A31515"/>
            </a:solidFill>
            <a:prstDash val="solid"/>
            <a:round/>
            <a:headEnd type="none" w="med" len="med"/>
            <a:tailEnd type="stealth" w="med" len="med"/>
          </a:ln>
        </p:spPr>
      </p:sp>
      <p:sp>
        <p:nvSpPr>
          <p:cNvPr id="337" name="Google Shape;337;p28"/>
          <p:cNvSpPr/>
          <p:nvPr/>
        </p:nvSpPr>
        <p:spPr>
          <a:xfrm>
            <a:off x="7452201" y="3974603"/>
            <a:ext cx="674400" cy="3012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1065200" y="4112950"/>
            <a:ext cx="3319500" cy="7143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89828F"/>
            </a:solidFill>
            <a:prstDash val="dot"/>
            <a:round/>
            <a:headEnd type="none" w="sm" len="sm"/>
            <a:tailEnd type="none" w="sm" len="sm"/>
          </a:ln>
          <a:effectLst>
            <a:outerShdw blurRad="71438" dist="66675" dir="3000000" algn="bl" rotWithShape="0">
              <a:srgbClr val="89828F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600">
                <a:solidFill>
                  <a:srgbClr val="210635"/>
                </a:solidFill>
                <a:latin typeface="Catamaran Light"/>
                <a:ea typeface="Catamaran Light"/>
                <a:cs typeface="Catamaran Light"/>
                <a:sym typeface="Catamaran Light"/>
              </a:rPr>
              <a:t>“If it walks like a duck and it quacks like a duck, then it must be a duck"</a:t>
            </a:r>
            <a:endParaRPr sz="1600">
              <a:solidFill>
                <a:srgbClr val="210635"/>
              </a:solidFill>
              <a:latin typeface="Catamaran Light"/>
              <a:ea typeface="Catamaran Light"/>
              <a:cs typeface="Catamaran Light"/>
              <a:sym typeface="Catamaran Light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6370172" y="2158390"/>
            <a:ext cx="2517900" cy="7014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8"/>
          <p:cNvSpPr/>
          <p:nvPr/>
        </p:nvSpPr>
        <p:spPr>
          <a:xfrm>
            <a:off x="6370175" y="757475"/>
            <a:ext cx="2065200" cy="7014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 abstratas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 abstratas</a:t>
            </a:r>
            <a:endParaRPr/>
          </a:p>
        </p:txBody>
      </p:sp>
      <p:sp>
        <p:nvSpPr>
          <p:cNvPr id="351" name="Google Shape;351;p3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352" name="Google Shape;352;p30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7522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⬢"/>
            </a:pPr>
            <a:r>
              <a:rPr lang="en" sz="2100"/>
              <a:t>São classes que </a:t>
            </a:r>
            <a:r>
              <a:rPr lang="en" sz="2100">
                <a:latin typeface="Catamaran Medium"/>
                <a:ea typeface="Catamaran Medium"/>
                <a:cs typeface="Catamaran Medium"/>
                <a:sym typeface="Catamaran Medium"/>
              </a:rPr>
              <a:t>não podem ser instanciadas</a:t>
            </a:r>
            <a:r>
              <a:rPr lang="en" sz="2100"/>
              <a:t>, pois definem um ou mais métodos </a:t>
            </a:r>
            <a:r>
              <a:rPr lang="en" sz="2100">
                <a:latin typeface="Catamaran Medium"/>
                <a:ea typeface="Catamaran Medium"/>
                <a:cs typeface="Catamaran Medium"/>
                <a:sym typeface="Catamaran Medium"/>
              </a:rPr>
              <a:t>abstratos</a:t>
            </a:r>
            <a:r>
              <a:rPr lang="en" sz="2100"/>
              <a:t> (i.e., sem implementação)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⬡"/>
            </a:pPr>
            <a:r>
              <a:rPr lang="en" sz="2100"/>
              <a:t>Útil quando você quer criar uma família de classes que diferem apenas pela implementação de um ou mais métodos</a:t>
            </a:r>
            <a:endParaRPr sz="21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⬢"/>
            </a:pPr>
            <a:r>
              <a:rPr lang="en" sz="2100"/>
              <a:t>As demais classes são chamadas de </a:t>
            </a:r>
            <a:r>
              <a:rPr lang="en" sz="2100">
                <a:latin typeface="Catamaran Medium"/>
                <a:ea typeface="Catamaran Medium"/>
                <a:cs typeface="Catamaran Medium"/>
                <a:sym typeface="Catamaran Medium"/>
              </a:rPr>
              <a:t>concretas</a:t>
            </a:r>
            <a:endParaRPr sz="2100">
              <a:latin typeface="Catamaran Medium"/>
              <a:ea typeface="Catamaran Medium"/>
              <a:cs typeface="Catamaran Medium"/>
              <a:sym typeface="Catamaran Medium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⬢"/>
            </a:pPr>
            <a:r>
              <a:rPr lang="en" sz="2100"/>
              <a:t>Uma subclasse de uma classe abstrata pode ser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⬡"/>
            </a:pPr>
            <a:r>
              <a:rPr lang="en" sz="2100">
                <a:latin typeface="Catamaran Medium"/>
                <a:ea typeface="Catamaran Medium"/>
                <a:cs typeface="Catamaran Medium"/>
                <a:sym typeface="Catamaran Medium"/>
              </a:rPr>
              <a:t>concretas</a:t>
            </a:r>
            <a:r>
              <a:rPr lang="en" sz="2100"/>
              <a:t>, se implementarem todos os métodos abstratos</a:t>
            </a:r>
            <a:endParaRPr sz="2100"/>
          </a:p>
          <a:p>
            <a:pPr marL="914400" lvl="1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⬡"/>
            </a:pPr>
            <a:r>
              <a:rPr lang="en" sz="2100">
                <a:latin typeface="Catamaran Medium"/>
                <a:ea typeface="Catamaran Medium"/>
                <a:cs typeface="Catamaran Medium"/>
                <a:sym typeface="Catamaran Medium"/>
              </a:rPr>
              <a:t>abstrata</a:t>
            </a:r>
            <a:r>
              <a:rPr lang="en" sz="2100"/>
              <a:t>, caso contrário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 abstratas – exemplo</a:t>
            </a:r>
            <a:endParaRPr/>
          </a:p>
        </p:txBody>
      </p:sp>
      <p:sp>
        <p:nvSpPr>
          <p:cNvPr id="358" name="Google Shape;358;p3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359" name="Google Shape;359;p31"/>
          <p:cNvSpPr txBox="1"/>
          <p:nvPr/>
        </p:nvSpPr>
        <p:spPr>
          <a:xfrm>
            <a:off x="5729850" y="100600"/>
            <a:ext cx="3453900" cy="54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from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abc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import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ABC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abstractmethod</a:t>
            </a:r>
            <a:endParaRPr sz="1450">
              <a:solidFill>
                <a:srgbClr val="795E2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Forma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ABC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__init__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cor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cor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cor</a:t>
            </a:r>
            <a:endParaRPr sz="1450">
              <a:solidFill>
                <a:srgbClr val="00108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@abstractmethod</a:t>
            </a:r>
            <a:endParaRPr sz="1450">
              <a:solidFill>
                <a:srgbClr val="795E2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area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4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pass</a:t>
            </a:r>
            <a:endParaRPr sz="1450">
              <a:solidFill>
                <a:srgbClr val="AF00DB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@abstractmethod</a:t>
            </a:r>
            <a:endParaRPr sz="1450">
              <a:solidFill>
                <a:srgbClr val="795E2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perimetro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4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pass</a:t>
            </a:r>
            <a:endParaRPr sz="1450">
              <a:solidFill>
                <a:srgbClr val="AF00DB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x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Forma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"azul"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  </a:t>
            </a:r>
            <a:r>
              <a:rPr lang="en" sz="1450">
                <a:solidFill>
                  <a:srgbClr val="008000"/>
                </a:solidFill>
                <a:latin typeface="Ubuntu Mono"/>
                <a:ea typeface="Ubuntu Mono"/>
                <a:cs typeface="Ubuntu Mono"/>
                <a:sym typeface="Ubuntu Mono"/>
              </a:rPr>
              <a:t># TypeError</a:t>
            </a:r>
            <a:endParaRPr sz="1450">
              <a:solidFill>
                <a:srgbClr val="008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>
              <a:solidFill>
                <a:srgbClr val="AF00DB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60" name="Google Shape;360;p31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Tentar instanciar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Forma</a:t>
            </a:r>
            <a:r>
              <a:rPr lang="en"/>
              <a:t> resulta no erro: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TypeError: Can't instantiate abstract class Forma with abstract methods area, perimetro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5729850" y="100600"/>
            <a:ext cx="3368700" cy="3936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1"/>
          <p:cNvSpPr/>
          <p:nvPr/>
        </p:nvSpPr>
        <p:spPr>
          <a:xfrm>
            <a:off x="6047744" y="2102825"/>
            <a:ext cx="1504500" cy="3936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1"/>
          <p:cNvSpPr/>
          <p:nvPr/>
        </p:nvSpPr>
        <p:spPr>
          <a:xfrm>
            <a:off x="6047744" y="3440299"/>
            <a:ext cx="1504500" cy="3936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1"/>
          <p:cNvSpPr/>
          <p:nvPr/>
        </p:nvSpPr>
        <p:spPr>
          <a:xfrm>
            <a:off x="6917500" y="831027"/>
            <a:ext cx="298200" cy="273300"/>
          </a:xfrm>
          <a:prstGeom prst="rect">
            <a:avLst/>
          </a:prstGeom>
          <a:solidFill>
            <a:srgbClr val="F8E300">
              <a:alpha val="36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2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 abstratas – exemplo</a:t>
            </a:r>
            <a:endParaRPr/>
          </a:p>
        </p:txBody>
      </p:sp>
      <p:sp>
        <p:nvSpPr>
          <p:cNvPr id="370" name="Google Shape;370;p3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5729850" y="557800"/>
            <a:ext cx="3453900" cy="43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Quadrado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Forma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__init__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cor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lado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super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().__init__(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cor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.lado =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lado</a:t>
            </a:r>
            <a:endParaRPr sz="1550">
              <a:solidFill>
                <a:srgbClr val="00108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area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return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.lado ** </a:t>
            </a:r>
            <a:r>
              <a:rPr lang="en" sz="1550">
                <a:solidFill>
                  <a:srgbClr val="098658"/>
                </a:solidFill>
                <a:latin typeface="Ubuntu Mono"/>
                <a:ea typeface="Ubuntu Mono"/>
                <a:cs typeface="Ubuntu Mono"/>
                <a:sym typeface="Ubuntu Mono"/>
              </a:rPr>
              <a:t>2</a:t>
            </a:r>
            <a:endParaRPr sz="1550">
              <a:solidFill>
                <a:srgbClr val="098658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5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perimetro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5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return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550">
                <a:solidFill>
                  <a:srgbClr val="098658"/>
                </a:solidFill>
                <a:latin typeface="Ubuntu Mono"/>
                <a:ea typeface="Ubuntu Mono"/>
                <a:cs typeface="Ubuntu Mono"/>
                <a:sym typeface="Ubuntu Mono"/>
              </a:rPr>
              <a:t>4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* </a:t>
            </a: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.lado</a:t>
            </a: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q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5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Quadrado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"azul"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550">
                <a:solidFill>
                  <a:srgbClr val="098658"/>
                </a:solidFill>
                <a:latin typeface="Ubuntu Mono"/>
                <a:ea typeface="Ubuntu Mono"/>
                <a:cs typeface="Ubuntu Mono"/>
                <a:sym typeface="Ubuntu Mono"/>
              </a:rPr>
              <a:t>10</a:t>
            </a:r>
            <a:r>
              <a:rPr lang="en" sz="155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850">
              <a:solidFill>
                <a:srgbClr val="AF00DB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72" name="Google Shape;372;p32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2000" b="1">
                <a:latin typeface="Consolas"/>
                <a:ea typeface="Consolas"/>
                <a:cs typeface="Consolas"/>
                <a:sym typeface="Consolas"/>
              </a:rPr>
              <a:t>Quadrado</a:t>
            </a:r>
            <a:r>
              <a:rPr lang="en"/>
              <a:t> estende e implementa todos os métodos abstratos de </a:t>
            </a:r>
            <a:r>
              <a:rPr lang="en" sz="2000" b="1">
                <a:latin typeface="Consolas"/>
                <a:ea typeface="Consolas"/>
                <a:cs typeface="Consolas"/>
                <a:sym typeface="Consolas"/>
              </a:rPr>
              <a:t>Forma</a:t>
            </a:r>
            <a:r>
              <a:rPr lang="en"/>
              <a:t>. Por isso, é uma classe concreta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 abstratas – exemplo</a:t>
            </a:r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5729850" y="100600"/>
            <a:ext cx="3453900" cy="4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class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Forma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267F99"/>
                </a:solidFill>
                <a:latin typeface="Ubuntu Mono"/>
                <a:ea typeface="Ubuntu Mono"/>
                <a:cs typeface="Ubuntu Mono"/>
                <a:sym typeface="Ubuntu Mono"/>
              </a:rPr>
              <a:t>ABC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__init__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cor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cor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= 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cor</a:t>
            </a:r>
            <a:endParaRPr sz="1450">
              <a:solidFill>
                <a:srgbClr val="00108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@abstractmethod</a:t>
            </a:r>
            <a:endParaRPr sz="1450">
              <a:solidFill>
                <a:srgbClr val="795E2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area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): </a:t>
            </a:r>
            <a:r>
              <a:rPr lang="en" sz="14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pass</a:t>
            </a:r>
            <a:endParaRPr sz="1450">
              <a:solidFill>
                <a:srgbClr val="AF00DB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@abstractmethod</a:t>
            </a:r>
            <a:endParaRPr sz="1450">
              <a:solidFill>
                <a:srgbClr val="795E26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perimetro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): </a:t>
            </a:r>
            <a:r>
              <a:rPr lang="en" sz="1450">
                <a:solidFill>
                  <a:srgbClr val="AF00DB"/>
                </a:solidFill>
                <a:latin typeface="Ubuntu Mono"/>
                <a:ea typeface="Ubuntu Mono"/>
                <a:cs typeface="Ubuntu Mono"/>
                <a:sym typeface="Ubuntu Mono"/>
              </a:rPr>
              <a:t>pass</a:t>
            </a:r>
            <a:endParaRPr sz="1450">
              <a:solidFill>
                <a:srgbClr val="AF00DB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</a:t>
            </a:r>
            <a:r>
              <a:rPr lang="en" sz="1450">
                <a:solidFill>
                  <a:srgbClr val="0000FF"/>
                </a:solidFill>
                <a:latin typeface="Ubuntu Mono"/>
                <a:ea typeface="Ubuntu Mono"/>
                <a:cs typeface="Ubuntu Mono"/>
                <a:sym typeface="Ubuntu Mono"/>
              </a:rPr>
              <a:t>def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imprime_resumo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):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"Área:"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, 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area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())</a:t>
            </a:r>
            <a:endParaRPr sz="1450"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    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print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</a:t>
            </a:r>
            <a:r>
              <a:rPr lang="en" sz="1450">
                <a:solidFill>
                  <a:srgbClr val="A31515"/>
                </a:solidFill>
                <a:latin typeface="Ubuntu Mono"/>
                <a:ea typeface="Ubuntu Mono"/>
                <a:cs typeface="Ubuntu Mono"/>
                <a:sym typeface="Ubuntu Mono"/>
              </a:rPr>
              <a:t>"Perímetro:"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,</a:t>
            </a:r>
            <a:br>
              <a:rPr lang="en" sz="1450">
                <a:latin typeface="Ubuntu Mono"/>
                <a:ea typeface="Ubuntu Mono"/>
                <a:cs typeface="Ubuntu Mono"/>
                <a:sym typeface="Ubuntu Mono"/>
              </a:rPr>
            </a:b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             </a:t>
            </a:r>
            <a:r>
              <a:rPr lang="en" sz="1450">
                <a:solidFill>
                  <a:srgbClr val="001080"/>
                </a:solidFill>
                <a:latin typeface="Ubuntu Mono"/>
                <a:ea typeface="Ubuntu Mono"/>
                <a:cs typeface="Ubuntu Mono"/>
                <a:sym typeface="Ubuntu Mono"/>
              </a:rPr>
              <a:t>self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.</a:t>
            </a:r>
            <a:r>
              <a:rPr lang="en" sz="1450">
                <a:solidFill>
                  <a:srgbClr val="795E26"/>
                </a:solidFill>
                <a:latin typeface="Ubuntu Mono"/>
                <a:ea typeface="Ubuntu Mono"/>
                <a:cs typeface="Ubuntu Mono"/>
                <a:sym typeface="Ubuntu Mono"/>
              </a:rPr>
              <a:t>perimetro</a:t>
            </a:r>
            <a:r>
              <a:rPr lang="en" sz="1450">
                <a:latin typeface="Ubuntu Mono"/>
                <a:ea typeface="Ubuntu Mono"/>
                <a:cs typeface="Ubuntu Mono"/>
                <a:sym typeface="Ubuntu Mono"/>
              </a:rPr>
              <a:t>())</a:t>
            </a:r>
            <a:endParaRPr sz="1850">
              <a:solidFill>
                <a:srgbClr val="0000FF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79" name="Google Shape;379;p3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380" name="Google Shape;380;p33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44466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método concreto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imprime_resumo</a:t>
            </a:r>
            <a:r>
              <a:rPr lang="en"/>
              <a:t> pode chamar métodos abstratos, pois eles serão definidos em classes concretas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Isso permite definir um algoritmo no qual alguns passos ficam em aberto, podendo ser definidos por uma subclasse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Protocolos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Protocolos</a:t>
            </a:r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 slides sobre </a:t>
            </a:r>
            <a:r>
              <a:rPr lang="en" u="sng">
                <a:solidFill>
                  <a:schemeClr val="hlink"/>
                </a:solidFill>
                <a:hlinkClick r:id="rId3"/>
              </a:rPr>
              <a:t>tipagem estática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Em Java e TypeScript é chamado de </a:t>
            </a:r>
            <a:r>
              <a:rPr lang="en" u="sng"/>
              <a:t>interface</a:t>
            </a:r>
            <a:endParaRPr u="sng"/>
          </a:p>
        </p:txBody>
      </p:sp>
      <p:sp>
        <p:nvSpPr>
          <p:cNvPr id="392" name="Google Shape;392;p3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 vs composição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4053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Composição entre classes ocorre quando uma classe possui um atributo de uma outra classe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Composição define uma relação de “</a:t>
            </a:r>
            <a:r>
              <a:rPr lang="en" b="1">
                <a:latin typeface="Catamaran"/>
                <a:ea typeface="Catamaran"/>
                <a:cs typeface="Catamaran"/>
                <a:sym typeface="Catamaran"/>
              </a:rPr>
              <a:t>tem um</a:t>
            </a:r>
            <a:r>
              <a:rPr lang="en"/>
              <a:t>"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Exemplos: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/>
              <a:t>Círculo tem um Ponto (centro)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/>
              <a:t>Palavra tem uma lista de Letras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/>
              <a:t>Carro tem um Volante</a:t>
            </a:r>
            <a:endParaRPr/>
          </a:p>
        </p:txBody>
      </p:sp>
      <p:sp>
        <p:nvSpPr>
          <p:cNvPr id="403" name="Google Shape;403;p37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Composição: “tem um"</a:t>
            </a:r>
            <a:endParaRPr/>
          </a:p>
        </p:txBody>
      </p:sp>
      <p:sp>
        <p:nvSpPr>
          <p:cNvPr id="404" name="Google Shape;404;p3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Não use herança somente para aproveitar código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Use herança quando há uma relação de “</a:t>
            </a:r>
            <a:r>
              <a:rPr lang="en" b="1">
                <a:latin typeface="Catamaran"/>
                <a:ea typeface="Catamaran"/>
                <a:cs typeface="Catamaran"/>
                <a:sym typeface="Catamaran"/>
              </a:rPr>
              <a:t>é um</a:t>
            </a:r>
            <a:r>
              <a:rPr lang="en"/>
              <a:t>" entre classes. Exemplos: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/>
              <a:t> é um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Quadrado</a:t>
            </a:r>
            <a:r>
              <a:rPr lang="en"/>
              <a:t> é uma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FormaGeométrica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Garanta que tudo o que foi herdado se aplica à subclasse</a:t>
            </a:r>
            <a:endParaRPr/>
          </a:p>
        </p:txBody>
      </p:sp>
      <p:sp>
        <p:nvSpPr>
          <p:cNvPr id="410" name="Google Shape;410;p38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Herança: “é um"</a:t>
            </a:r>
            <a:endParaRPr/>
          </a:p>
        </p:txBody>
      </p:sp>
      <p:sp>
        <p:nvSpPr>
          <p:cNvPr id="411" name="Google Shape;411;p3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Ex.: faz sentido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/>
              <a:t> estender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/>
              <a:t>, pois todo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/>
              <a:t> </a:t>
            </a:r>
            <a:r>
              <a:rPr lang="en" b="1">
                <a:latin typeface="Catamaran"/>
                <a:ea typeface="Catamaran"/>
                <a:cs typeface="Catamaran"/>
                <a:sym typeface="Catamaran"/>
              </a:rPr>
              <a:t>é um</a:t>
            </a:r>
            <a:r>
              <a:rPr lang="en"/>
              <a:t>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A classe </a:t>
            </a: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Animal</a:t>
            </a:r>
            <a:r>
              <a:rPr lang="en"/>
              <a:t> define todos os comportamentos que são comuns a todos os animais (ex.: mover-se, reproduzir-se)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 sz="2000" b="1">
                <a:latin typeface="Ubuntu Mono"/>
                <a:ea typeface="Ubuntu Mono"/>
                <a:cs typeface="Ubuntu Mono"/>
                <a:sym typeface="Ubuntu Mono"/>
              </a:rPr>
              <a:t>Gato</a:t>
            </a:r>
            <a:r>
              <a:rPr lang="en"/>
              <a:t> herda esses comportamentos</a:t>
            </a:r>
            <a:endParaRPr/>
          </a:p>
        </p:txBody>
      </p:sp>
      <p:sp>
        <p:nvSpPr>
          <p:cNvPr id="417" name="Google Shape;417;p3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Herança: “é um"</a:t>
            </a:r>
            <a:endParaRPr/>
          </a:p>
        </p:txBody>
      </p:sp>
      <p:sp>
        <p:nvSpPr>
          <p:cNvPr id="418" name="Google Shape;418;p3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grpSp>
        <p:nvGrpSpPr>
          <p:cNvPr id="419" name="Google Shape;419;p39"/>
          <p:cNvGrpSpPr/>
          <p:nvPr/>
        </p:nvGrpSpPr>
        <p:grpSpPr>
          <a:xfrm>
            <a:off x="5834100" y="134000"/>
            <a:ext cx="3143700" cy="1463700"/>
            <a:chOff x="3896275" y="2659375"/>
            <a:chExt cx="3143700" cy="1463700"/>
          </a:xfrm>
        </p:grpSpPr>
        <p:sp>
          <p:nvSpPr>
            <p:cNvPr id="420" name="Google Shape;420;p39"/>
            <p:cNvSpPr/>
            <p:nvPr/>
          </p:nvSpPr>
          <p:spPr>
            <a:xfrm>
              <a:off x="3896275" y="2659375"/>
              <a:ext cx="3143700" cy="1463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>
              <a:off x="4700150" y="3033650"/>
              <a:ext cx="1536000" cy="7152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9"/>
            <p:cNvSpPr txBox="1"/>
            <p:nvPr/>
          </p:nvSpPr>
          <p:spPr>
            <a:xfrm>
              <a:off x="5396812" y="2956063"/>
              <a:ext cx="940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lang="en" sz="1900">
                  <a:solidFill>
                    <a:schemeClr val="dk1"/>
                  </a:solidFill>
                  <a:latin typeface="Catamaran Light"/>
                  <a:ea typeface="Catamaran Light"/>
                  <a:cs typeface="Catamaran Light"/>
                  <a:sym typeface="Catamaran Light"/>
                </a:rPr>
                <a:t>Gato</a:t>
              </a:r>
              <a:endParaRPr sz="1900"/>
            </a:p>
          </p:txBody>
        </p:sp>
        <p:sp>
          <p:nvSpPr>
            <p:cNvPr id="423" name="Google Shape;423;p39"/>
            <p:cNvSpPr txBox="1"/>
            <p:nvPr/>
          </p:nvSpPr>
          <p:spPr>
            <a:xfrm>
              <a:off x="5788120" y="2727463"/>
              <a:ext cx="9402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800"/>
                </a:spcAft>
                <a:buNone/>
              </a:pPr>
              <a:r>
                <a:rPr lang="en" sz="1900">
                  <a:solidFill>
                    <a:schemeClr val="dk1"/>
                  </a:solidFill>
                  <a:latin typeface="Catamaran Light"/>
                  <a:ea typeface="Catamaran Light"/>
                  <a:cs typeface="Catamaran Light"/>
                  <a:sym typeface="Catamaran Light"/>
                </a:rPr>
                <a:t>Animal</a:t>
              </a:r>
              <a:endParaRPr sz="90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0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Ponto</a:t>
            </a:r>
            <a:r>
              <a:rPr lang="en"/>
              <a:t> define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/>
              <a:t>,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/>
              <a:t> 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mover()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Círculo</a:t>
            </a:r>
            <a:r>
              <a:rPr lang="en"/>
              <a:t> possui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"/>
              <a:t>,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"/>
              <a:t>,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raio</a:t>
            </a:r>
            <a:r>
              <a:rPr lang="en"/>
              <a:t>,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mover()</a:t>
            </a:r>
            <a:r>
              <a:rPr lang="en"/>
              <a:t> 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area()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Círculo</a:t>
            </a:r>
            <a:r>
              <a:rPr lang="en"/>
              <a:t> deve estender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Ponto</a:t>
            </a:r>
            <a:r>
              <a:rPr lang="en"/>
              <a:t>?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/>
              <a:t>Conceitualmente,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Círculo</a:t>
            </a:r>
            <a:r>
              <a:rPr lang="en"/>
              <a:t> não é um ponto, e sim tem um ponto (centro)</a:t>
            </a:r>
            <a:endParaRPr/>
          </a:p>
        </p:txBody>
      </p:sp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Herança: contra-exemplos</a:t>
            </a:r>
            <a:endParaRPr/>
          </a:p>
        </p:txBody>
      </p:sp>
      <p:sp>
        <p:nvSpPr>
          <p:cNvPr id="430" name="Google Shape;430;p4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1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Vetor</a:t>
            </a:r>
            <a:r>
              <a:rPr lang="en"/>
              <a:t> é uma coleção de elementos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Pilha</a:t>
            </a:r>
            <a:r>
              <a:rPr lang="en"/>
              <a:t> é uma coleção de elementos no qual o último a entrar é o primeiro a sair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Pilha</a:t>
            </a:r>
            <a:r>
              <a:rPr lang="en"/>
              <a:t> deve estender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Vetor</a:t>
            </a:r>
            <a:r>
              <a:rPr lang="en"/>
              <a:t>?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Pilha</a:t>
            </a:r>
            <a:r>
              <a:rPr lang="en"/>
              <a:t> pode ser implementado com outras estruturas, não apenas vetores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Vetor</a:t>
            </a:r>
            <a:r>
              <a:rPr lang="en"/>
              <a:t> define operações (ex.: trocar elemento) que não se aplicam a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Pilha</a:t>
            </a:r>
            <a:endParaRPr/>
          </a:p>
        </p:txBody>
      </p:sp>
      <p:sp>
        <p:nvSpPr>
          <p:cNvPr id="436" name="Google Shape;436;p4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Herança: contra-exemplos</a:t>
            </a:r>
            <a:endParaRPr/>
          </a:p>
        </p:txBody>
      </p:sp>
      <p:sp>
        <p:nvSpPr>
          <p:cNvPr id="437" name="Google Shape;437;p4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Quadrado</a:t>
            </a:r>
            <a:r>
              <a:rPr lang="en"/>
              <a:t> deve estender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Retangulo</a:t>
            </a:r>
            <a:r>
              <a:rPr lang="en"/>
              <a:t>?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Até faz sentido: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Quadrado</a:t>
            </a:r>
            <a:r>
              <a:rPr lang="en"/>
              <a:t> é um tipo de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Retangulo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Problema: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Retangulo</a:t>
            </a:r>
            <a:r>
              <a:rPr lang="en"/>
              <a:t> possui largura e altura</a:t>
            </a:r>
            <a:endParaRPr/>
          </a:p>
        </p:txBody>
      </p:sp>
      <p:sp>
        <p:nvSpPr>
          <p:cNvPr id="443" name="Google Shape;443;p42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Herança: contra-exemplos</a:t>
            </a:r>
            <a:endParaRPr/>
          </a:p>
        </p:txBody>
      </p:sp>
      <p:sp>
        <p:nvSpPr>
          <p:cNvPr id="444" name="Google Shape;444;p4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445" name="Google Shape;445;p42"/>
          <p:cNvSpPr txBox="1"/>
          <p:nvPr/>
        </p:nvSpPr>
        <p:spPr>
          <a:xfrm>
            <a:off x="2236750" y="3329375"/>
            <a:ext cx="3576900" cy="14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1080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q</a:t>
            </a:r>
            <a:r>
              <a:rPr lang="en" sz="1550"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 = Quadrado()</a:t>
            </a:r>
            <a:endParaRPr sz="1550">
              <a:highlight>
                <a:srgbClr val="FFFFF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1080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q</a:t>
            </a:r>
            <a:r>
              <a:rPr lang="en" sz="1550"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.largura = </a:t>
            </a:r>
            <a:r>
              <a:rPr lang="en" sz="1550">
                <a:solidFill>
                  <a:srgbClr val="098658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3</a:t>
            </a:r>
            <a:endParaRPr sz="1550">
              <a:solidFill>
                <a:srgbClr val="098658"/>
              </a:solidFill>
              <a:highlight>
                <a:srgbClr val="FFFFF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1080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q</a:t>
            </a:r>
            <a:r>
              <a:rPr lang="en" sz="1550"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.altura = </a:t>
            </a:r>
            <a:r>
              <a:rPr lang="en" sz="1550">
                <a:solidFill>
                  <a:srgbClr val="098658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4</a:t>
            </a:r>
            <a:endParaRPr sz="1550">
              <a:solidFill>
                <a:srgbClr val="098658"/>
              </a:solidFill>
              <a:highlight>
                <a:srgbClr val="FFFFFF"/>
              </a:highlight>
              <a:latin typeface="Ubuntu Mono"/>
              <a:ea typeface="Ubuntu Mono"/>
              <a:cs typeface="Ubuntu Mono"/>
              <a:sym typeface="Ubuntu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008000"/>
                </a:solidFill>
                <a:highlight>
                  <a:srgbClr val="FFFFFF"/>
                </a:highlight>
                <a:latin typeface="Ubuntu Mono"/>
                <a:ea typeface="Ubuntu Mono"/>
                <a:cs typeface="Ubuntu Mono"/>
                <a:sym typeface="Ubuntu Mono"/>
              </a:rPr>
              <a:t># qual é o valor de q.largura?</a:t>
            </a:r>
            <a:endParaRPr sz="1550">
              <a:solidFill>
                <a:srgbClr val="008000"/>
              </a:solidFill>
              <a:highlight>
                <a:srgbClr val="FFFFFF"/>
              </a:highlight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3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4053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Composição entre classes ocorre quando uma classe possui um atributo de uma outra classe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Composição define uma relação de “</a:t>
            </a:r>
            <a:r>
              <a:rPr lang="en" b="1">
                <a:latin typeface="Catamaran"/>
                <a:ea typeface="Catamaran"/>
                <a:cs typeface="Catamaran"/>
                <a:sym typeface="Catamaran"/>
              </a:rPr>
              <a:t>tem um</a:t>
            </a:r>
            <a:r>
              <a:rPr lang="en"/>
              <a:t>"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Exemplos: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Círculo</a:t>
            </a:r>
            <a:r>
              <a:rPr lang="en"/>
              <a:t> tem um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Ponto</a:t>
            </a:r>
            <a:r>
              <a:rPr lang="en"/>
              <a:t> (centro)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Palavra</a:t>
            </a:r>
            <a:r>
              <a:rPr lang="en"/>
              <a:t> tem uma lista de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Letras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Carro</a:t>
            </a:r>
            <a:r>
              <a:rPr lang="en"/>
              <a:t> tem um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Volante</a:t>
            </a:r>
            <a:endParaRPr/>
          </a:p>
        </p:txBody>
      </p:sp>
      <p:sp>
        <p:nvSpPr>
          <p:cNvPr id="451" name="Google Shape;451;p43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Composição: “tem um"</a:t>
            </a:r>
            <a:endParaRPr/>
          </a:p>
        </p:txBody>
      </p:sp>
      <p:sp>
        <p:nvSpPr>
          <p:cNvPr id="452" name="Google Shape;452;p4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4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⬢"/>
            </a:pPr>
            <a:r>
              <a:rPr lang="en"/>
              <a:t>Composição dá mais flexibilidade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/>
              <a:t>Não é preciso usar todas as partes de um componente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/>
              <a:t>Pode-se trocar os componentes em tempo de execução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⬡"/>
            </a:pPr>
            <a:r>
              <a:rPr lang="en"/>
              <a:t>Pode-se combinar diferentes componentes</a:t>
            </a:r>
            <a:endParaRPr/>
          </a:p>
        </p:txBody>
      </p:sp>
      <p:sp>
        <p:nvSpPr>
          <p:cNvPr id="458" name="Google Shape;458;p44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Favoreça composição</a:t>
            </a:r>
            <a:endParaRPr/>
          </a:p>
        </p:txBody>
      </p:sp>
      <p:sp>
        <p:nvSpPr>
          <p:cNvPr id="459" name="Google Shape;459;p4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5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jogo de estratégia em tempo real (com herança)</a:t>
            </a:r>
            <a:endParaRPr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1956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Classe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Pessoa</a:t>
            </a:r>
            <a:r>
              <a:rPr lang="en" sz="2200"/>
              <a:t>: pode mover-se e atacar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/>
              <a:t>O ataque varia:</a:t>
            </a:r>
            <a:endParaRPr sz="2200"/>
          </a:p>
          <a:p>
            <a:pPr marL="457200" lvl="0" indent="-317500" algn="l" rtl="0">
              <a:spcBef>
                <a:spcPts val="800"/>
              </a:spcBef>
              <a:spcAft>
                <a:spcPts val="0"/>
              </a:spcAft>
              <a:buSzPts val="1400"/>
              <a:buChar char="⬢"/>
            </a:pPr>
            <a:r>
              <a:rPr lang="en" sz="2200"/>
              <a:t>subclasse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Arqueiro</a:t>
            </a:r>
            <a:r>
              <a:rPr lang="en" sz="2200"/>
              <a:t>: ataque a longa distância</a:t>
            </a:r>
            <a:endParaRPr sz="22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⬢"/>
            </a:pPr>
            <a:r>
              <a:rPr lang="en" sz="2200"/>
              <a:t>subclasse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Guerreiro</a:t>
            </a:r>
            <a:r>
              <a:rPr lang="en" sz="2200"/>
              <a:t>: com espada, curta distância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/>
              <a:t>Um arqueiro nunca pode virar um guerreiro, pois</a:t>
            </a:r>
            <a:br>
              <a:rPr lang="en" sz="2200"/>
            </a:br>
            <a:r>
              <a:rPr lang="en" sz="2200"/>
              <a:t>um objeto do tipo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Arqueiro</a:t>
            </a:r>
            <a:r>
              <a:rPr lang="en" sz="2200"/>
              <a:t> não pode mudar seu tipo para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Guerreiro</a:t>
            </a:r>
            <a:r>
              <a:rPr lang="en" sz="2200"/>
              <a:t> durante a execução do programa</a:t>
            </a:r>
            <a:endParaRPr sz="22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endParaRPr sz="2200"/>
          </a:p>
        </p:txBody>
      </p:sp>
      <p:sp>
        <p:nvSpPr>
          <p:cNvPr id="466" name="Google Shape;466;p4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6"/>
          <p:cNvSpPr txBox="1">
            <a:spLocks noGrp="1"/>
          </p:cNvSpPr>
          <p:nvPr>
            <p:ph type="body" idx="1"/>
          </p:nvPr>
        </p:nvSpPr>
        <p:spPr>
          <a:xfrm>
            <a:off x="779100" y="1808350"/>
            <a:ext cx="6508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Agora considere que qualquer pessoa deve poder se locomover a pé ou a cavalo</a:t>
            </a:r>
            <a:endParaRPr sz="21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Classe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Pessoa</a:t>
            </a:r>
            <a:r>
              <a:rPr lang="en" sz="2100"/>
              <a:t>: pode mover-se e atacar, e possui uma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Arma</a:t>
            </a:r>
            <a:endParaRPr sz="21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/>
              <a:t>A ação de atacar consiste em usar a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Arma</a:t>
            </a:r>
            <a:endParaRPr sz="2100"/>
          </a:p>
          <a:p>
            <a:pPr marL="457200" lvl="0" indent="-311150" algn="l" rtl="0">
              <a:spcBef>
                <a:spcPts val="800"/>
              </a:spcBef>
              <a:spcAft>
                <a:spcPts val="0"/>
              </a:spcAft>
              <a:buSzPts val="1300"/>
              <a:buChar char="⬢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Arco</a:t>
            </a:r>
            <a:r>
              <a:rPr lang="en" sz="2100"/>
              <a:t> estende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Arma</a:t>
            </a:r>
            <a:r>
              <a:rPr lang="en" sz="2100"/>
              <a:t>: permite atacar a longa distância</a:t>
            </a:r>
            <a:endParaRPr sz="21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⬢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Espada</a:t>
            </a:r>
            <a:r>
              <a:rPr lang="en" sz="2100"/>
              <a:t> estende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Arma</a:t>
            </a:r>
            <a:r>
              <a:rPr lang="en" sz="2100"/>
              <a:t>: permite atacar a curta distância</a:t>
            </a:r>
            <a:endParaRPr sz="21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100"/>
              <a:t>É possível trocar a arma durante o jogo</a:t>
            </a:r>
            <a:endParaRPr sz="2100"/>
          </a:p>
        </p:txBody>
      </p:sp>
      <p:sp>
        <p:nvSpPr>
          <p:cNvPr id="472" name="Google Shape;472;p46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jogo de estratégia em tempo real (com composição)</a:t>
            </a:r>
            <a:endParaRPr/>
          </a:p>
        </p:txBody>
      </p:sp>
      <p:sp>
        <p:nvSpPr>
          <p:cNvPr id="473" name="Google Shape;473;p4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7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</a:t>
            </a:r>
            <a:endParaRPr/>
          </a:p>
        </p:txBody>
      </p:sp>
      <p:sp>
        <p:nvSpPr>
          <p:cNvPr id="479" name="Google Shape;479;p47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Vamos criar uma classe que imprime e salva o guia de usuário de uma determinada aplicação.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Esse guia pode ser gerado no formato HTML ou no formato Markdown.</a:t>
            </a:r>
            <a:endParaRPr/>
          </a:p>
        </p:txBody>
      </p:sp>
      <p:sp>
        <p:nvSpPr>
          <p:cNvPr id="480" name="Google Shape;480;p4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8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Alguns padrões de projeto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É uma solução genérica para um problema recorrente referente ao projeto (design) OO</a:t>
            </a:r>
            <a:endParaRPr/>
          </a:p>
        </p:txBody>
      </p:sp>
      <p:sp>
        <p:nvSpPr>
          <p:cNvPr id="491" name="Google Shape;491;p4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Padrão de projeto</a:t>
            </a:r>
            <a:endParaRPr/>
          </a:p>
        </p:txBody>
      </p:sp>
      <p:sp>
        <p:nvSpPr>
          <p:cNvPr id="492" name="Google Shape;492;p4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493" name="Google Shape;493;p49"/>
          <p:cNvSpPr txBox="1"/>
          <p:nvPr/>
        </p:nvSpPr>
        <p:spPr>
          <a:xfrm>
            <a:off x="51745" y="782698"/>
            <a:ext cx="379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🎨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0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Observer/listener</a:t>
            </a:r>
            <a:endParaRPr/>
          </a:p>
        </p:txBody>
      </p:sp>
      <p:sp>
        <p:nvSpPr>
          <p:cNvPr id="499" name="Google Shape;499;p50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Problema</a:t>
            </a:r>
            <a:r>
              <a:rPr lang="en"/>
              <a:t>: quero enviar uma informação para um objeto, mas não tenho referência para ele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Exemplo</a:t>
            </a:r>
            <a:r>
              <a:rPr lang="en"/>
              <a:t>: quando o carro pega um item, quero avisar ao quadro de pontuação (interessado) que a pontuação deve ser atualizada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latin typeface="Catamaran Medium"/>
                <a:ea typeface="Catamaran Medium"/>
                <a:cs typeface="Catamaran Medium"/>
                <a:sym typeface="Catamaran Medium"/>
              </a:rPr>
              <a:t>Solução</a:t>
            </a:r>
            <a:r>
              <a:rPr lang="en"/>
              <a:t>: guarde uma lista na qual os interessados se inscrevem para receber avisos</a:t>
            </a:r>
            <a:endParaRPr/>
          </a:p>
        </p:txBody>
      </p:sp>
      <p:sp>
        <p:nvSpPr>
          <p:cNvPr id="500" name="Google Shape;500;p5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501" name="Google Shape;501;p50"/>
          <p:cNvSpPr txBox="1"/>
          <p:nvPr/>
        </p:nvSpPr>
        <p:spPr>
          <a:xfrm>
            <a:off x="51745" y="782698"/>
            <a:ext cx="379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🎨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</a:t>
            </a:r>
            <a:endParaRPr/>
          </a:p>
        </p:txBody>
      </p:sp>
      <p:sp>
        <p:nvSpPr>
          <p:cNvPr id="507" name="Google Shape;507;p5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508" name="Google Shape;508;p51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Catamaran Medium"/>
                <a:ea typeface="Catamaran Medium"/>
                <a:cs typeface="Catamaran Medium"/>
                <a:sym typeface="Catamaran Medium"/>
              </a:rPr>
              <a:t>Problema</a:t>
            </a:r>
            <a:r>
              <a:rPr lang="en" sz="1900"/>
              <a:t>: quero poder alterar o comportamento de um objeto em tempo de execução</a:t>
            </a:r>
            <a:endParaRPr sz="19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>
                <a:latin typeface="Catamaran Medium"/>
                <a:ea typeface="Catamaran Medium"/>
                <a:cs typeface="Catamaran Medium"/>
                <a:sym typeface="Catamaran Medium"/>
              </a:rPr>
              <a:t>Exemplo</a:t>
            </a:r>
            <a:r>
              <a:rPr lang="en" sz="1900"/>
              <a:t>: ao bater em um obstáculo, o carro deve ser danificado; ao pegar um item de invencibilidade, no entanto, ele deve destruir o obstáculo</a:t>
            </a:r>
            <a:endParaRPr sz="1900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900">
                <a:latin typeface="Catamaran Medium"/>
                <a:ea typeface="Catamaran Medium"/>
                <a:cs typeface="Catamaran Medium"/>
                <a:sym typeface="Catamaran Medium"/>
              </a:rPr>
              <a:t>Solução</a:t>
            </a:r>
            <a:r>
              <a:rPr lang="en" sz="1900"/>
              <a:t>: Carro deve possuir um objeto com um método que define o que deve ser feito ao bater em um obstáculo. Esse objeto pode ser trocado (por exemplo, através de um setter).</a:t>
            </a:r>
            <a:endParaRPr sz="1900"/>
          </a:p>
        </p:txBody>
      </p:sp>
      <p:sp>
        <p:nvSpPr>
          <p:cNvPr id="509" name="Google Shape;509;p51"/>
          <p:cNvSpPr txBox="1"/>
          <p:nvPr/>
        </p:nvSpPr>
        <p:spPr>
          <a:xfrm>
            <a:off x="51745" y="782698"/>
            <a:ext cx="379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🎨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Dauphin template">
  <a:themeElements>
    <a:clrScheme name="Custom 347">
      <a:dk1>
        <a:srgbClr val="210635"/>
      </a:dk1>
      <a:lt1>
        <a:srgbClr val="FFFFFF"/>
      </a:lt1>
      <a:dk2>
        <a:srgbClr val="89828F"/>
      </a:dk2>
      <a:lt2>
        <a:srgbClr val="F4F3F8"/>
      </a:lt2>
      <a:accent1>
        <a:srgbClr val="725DCF"/>
      </a:accent1>
      <a:accent2>
        <a:srgbClr val="BD6DE0"/>
      </a:accent2>
      <a:accent3>
        <a:srgbClr val="F07249"/>
      </a:accent3>
      <a:accent4>
        <a:srgbClr val="FFB200"/>
      </a:accent4>
      <a:accent5>
        <a:srgbClr val="9D91EE"/>
      </a:accent5>
      <a:accent6>
        <a:srgbClr val="3691E0"/>
      </a:accent6>
      <a:hlink>
        <a:srgbClr val="6A5DC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1922</Words>
  <Application>Microsoft Office PowerPoint</Application>
  <PresentationFormat>Apresentação na tela (16:9)</PresentationFormat>
  <Paragraphs>320</Paragraphs>
  <Slides>40</Slides>
  <Notes>40</Notes>
  <HiddenSlides>5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50" baseType="lpstr">
      <vt:lpstr>Calibri</vt:lpstr>
      <vt:lpstr>Catamaran Medium</vt:lpstr>
      <vt:lpstr>Catamaran Thin</vt:lpstr>
      <vt:lpstr>Catamaran Light</vt:lpstr>
      <vt:lpstr>Arial</vt:lpstr>
      <vt:lpstr>Catamaran SemiBold</vt:lpstr>
      <vt:lpstr>Catamaran</vt:lpstr>
      <vt:lpstr>Ubuntu Mono</vt:lpstr>
      <vt:lpstr>Consolas</vt:lpstr>
      <vt:lpstr>Dauphin template</vt:lpstr>
      <vt:lpstr>Herança e classes abstratas</vt:lpstr>
      <vt:lpstr>Herança</vt:lpstr>
      <vt:lpstr>Herança</vt:lpstr>
      <vt:lpstr>Nomenclatura</vt:lpstr>
      <vt:lpstr>Herança em Python</vt:lpstr>
      <vt:lpstr>O que você pode fazer na classe derivada</vt:lpstr>
      <vt:lpstr>Sobreposição (override)</vt:lpstr>
      <vt:lpstr>Sobreposição em Python</vt:lpstr>
      <vt:lpstr>super()</vt:lpstr>
      <vt:lpstr>super().__init__</vt:lpstr>
      <vt:lpstr>Classe object</vt:lpstr>
      <vt:lpstr>Herança e subtipo (é-um)</vt:lpstr>
      <vt:lpstr>Herança múltipla</vt:lpstr>
      <vt:lpstr>Polimorfismo</vt:lpstr>
      <vt:lpstr>Conceito: polimorfismo</vt:lpstr>
      <vt:lpstr>Polimorfismo de subtipo</vt:lpstr>
      <vt:lpstr>Duck typing</vt:lpstr>
      <vt:lpstr>Classes abstratas</vt:lpstr>
      <vt:lpstr>Classes abstratas</vt:lpstr>
      <vt:lpstr>Classes abstratas – exemplo</vt:lpstr>
      <vt:lpstr>Classes abstratas – exemplo</vt:lpstr>
      <vt:lpstr>Classes abstratas – exemplo</vt:lpstr>
      <vt:lpstr>Protocolos</vt:lpstr>
      <vt:lpstr>Protocolos</vt:lpstr>
      <vt:lpstr>Herança vs composição</vt:lpstr>
      <vt:lpstr>Composição: “tem um"</vt:lpstr>
      <vt:lpstr>Herança: “é um"</vt:lpstr>
      <vt:lpstr>Herança: “é um"</vt:lpstr>
      <vt:lpstr>Herança: contra-exemplos</vt:lpstr>
      <vt:lpstr>Herança: contra-exemplos</vt:lpstr>
      <vt:lpstr>Herança: contra-exemplos</vt:lpstr>
      <vt:lpstr>Composição: “tem um"</vt:lpstr>
      <vt:lpstr>Favoreça composição</vt:lpstr>
      <vt:lpstr>Exemplo: jogo de estratégia em tempo real (com herança)</vt:lpstr>
      <vt:lpstr>Exemplo: jogo de estratégia em tempo real (com composição)</vt:lpstr>
      <vt:lpstr>Exemplo</vt:lpstr>
      <vt:lpstr>Alguns padrões de projeto</vt:lpstr>
      <vt:lpstr>Padrão de projeto</vt:lpstr>
      <vt:lpstr>Observer/listener</vt:lpstr>
      <vt:lpstr>Strategy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Herança e classes abstratas</dc:title>
  <cp:lastModifiedBy>EDUARDO</cp:lastModifiedBy>
  <cp:revision>1</cp:revision>
  <dcterms:modified xsi:type="dcterms:W3CDTF">2026-10-13T16:19:16Z</dcterms:modified>
</cp:coreProperties>
</file>